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789d1a3a67471a" /><Relationship Type="http://schemas.openxmlformats.org/officeDocument/2006/relationships/extended-properties" Target="/docProps/app.xml" Id="R375af03096664cb7" /><Relationship Type="http://schemas.openxmlformats.org/officeDocument/2006/relationships/officeDocument" Target="/ppt/presentation.xml" Id="Rb0870a55bf9d4872" /></Relationships>
</file>

<file path=ppt/presentation.xml><?xml version="1.0" encoding="utf-8"?>
<p:presentation xmlns:p="http://schemas.openxmlformats.org/presentationml/2006/main">
  <p:sldMasterIdLst>
    <p:sldMasterId xmlns:r="http://schemas.openxmlformats.org/officeDocument/2006/relationships" id="2147483648" r:id="R8c06c0f29eaa4715"/>
  </p:sldMasterIdLst>
  <p:notesMasterIdLst>
    <p:notesMasterId xmlns:r="http://schemas.openxmlformats.org/officeDocument/2006/relationships" r:id="Rbc0d09c3ff774dfb"/>
  </p:notesMasterIdLst>
  <p:sldIdLst>
    <p:sldId xmlns:r="http://schemas.openxmlformats.org/officeDocument/2006/relationships" id="256" r:id="Re5dd2da1e66a4248"/>
    <p:sldId xmlns:r="http://schemas.openxmlformats.org/officeDocument/2006/relationships" id="257" r:id="R0f58ae1776b74aeb"/>
    <p:sldId xmlns:r="http://schemas.openxmlformats.org/officeDocument/2006/relationships" id="258" r:id="Rf7ea44bb6772496a"/>
    <p:sldId xmlns:r="http://schemas.openxmlformats.org/officeDocument/2006/relationships" id="259" r:id="Rfa7429528d034b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308c92b85c4ce6" /><Relationship Type="http://schemas.openxmlformats.org/officeDocument/2006/relationships/slideMaster" Target="/ppt/slideMasters/slideMaster1.xml" Id="R8c06c0f29eaa4715" /><Relationship Type="http://schemas.openxmlformats.org/officeDocument/2006/relationships/notesMaster" Target="/ppt/notesMasters/notesMaster1.xml" Id="Rbc0d09c3ff774dfb" /><Relationship Type="http://schemas.openxmlformats.org/officeDocument/2006/relationships/presProps" Target="/ppt/presProps.xml" Id="R4a21dfc716294cf3" /><Relationship Type="http://schemas.openxmlformats.org/officeDocument/2006/relationships/tableStyles" Target="/ppt/tableStyles.xml" Id="Re3598e7e28524d83" /><Relationship Type="http://schemas.openxmlformats.org/officeDocument/2006/relationships/slide" Target="/ppt/slides/slide1.xml" Id="Re5dd2da1e66a4248" /><Relationship Type="http://schemas.openxmlformats.org/officeDocument/2006/relationships/slide" Target="/ppt/slides/slide2.xml" Id="R0f58ae1776b74aeb" /><Relationship Type="http://schemas.openxmlformats.org/officeDocument/2006/relationships/slide" Target="/ppt/slides/slide3.xml" Id="Rf7ea44bb6772496a" /><Relationship Type="http://schemas.openxmlformats.org/officeDocument/2006/relationships/slide" Target="/ppt/slides/slide4.xml" Id="Rfa7429528d034b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ce8d56d1874a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4c5976aee34ddd" /><Relationship Type="http://schemas.openxmlformats.org/officeDocument/2006/relationships/notesMaster" Target="/ppt/notesMasters/notesMaster1.xml" Id="R15083a71076f49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0c887f602a4df0" /><Relationship Type="http://schemas.openxmlformats.org/officeDocument/2006/relationships/notesMaster" Target="/ppt/notesMasters/notesMaster1.xml" Id="R7bfcbfd3c83944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109369de844970" /><Relationship Type="http://schemas.openxmlformats.org/officeDocument/2006/relationships/notesMaster" Target="/ppt/notesMasters/notesMaster1.xml" Id="Rcd55daa8239144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2d2910512249ef" /><Relationship Type="http://schemas.openxmlformats.org/officeDocument/2006/relationships/notesMaster" Target="/ppt/notesMasters/notesMaster1.xml" Id="Rfb072a2376094e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 help people assess a post before sharing it by making evidence and uncertainty visible. Walk through the browser extension and screenshot evidence card. Needs context is not a blanket false label. Origin detection is a signal rather than proof of AI authorship. Built for the Innovation Intelligence Hackathon. The supplied year (20256) was ambiguous and is omitted.</a:t>
            </a:r>
          </a:p>
          <a:p xmlns:a="http://schemas.openxmlformats.org/drawingml/2006/main">
            <a:r>
              <a:t/>
            </a:r>
          </a:p>
          <a:p xmlns:a="http://schemas.openxmlformats.org/drawingml/2006/main">
            <a:r>
              <a:t>Sources: README.md and src/factcheck/pipeline.py in https://github.com/Illuminare-AI/IlluminarePipeline. Product screenshots and hackathon context supplied by the team. Live services require configuration. Fake mode is the default local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Pew figure describes a potential audience, not an adoption forecast. 53% equals 21% often + 32% sometimes in 2025. The chart does not measure misinformation prevalence or distrust of AI. Luminate allows user-initiated checking without waiting for a community note or later correction. No response-time benchmark is claimed. Pew Research Center, Social Media and News Fact Sheet, survey Aug. 18–24, 2025: https://www.pewresearch.org/journalism/fact-sheet/social-media-and-news-fact-sheet/. The supplied chart is preserved with its source and caveats.</a:t>
            </a:r>
          </a:p>
          <a:p xmlns:a="http://schemas.openxmlformats.org/drawingml/2006/main">
            <a:r>
              <a:t/>
            </a:r>
          </a:p>
          <a:p xmlns:a="http://schemas.openxmlformats.org/drawingml/2006/main">
            <a:r>
              <a:t>Sources: README.md and src/factcheck/pipeline.py in https://github.com/Illuminare-AI/IlluminarePipeline. Product screenshots and hackathon context supplied by the team. Live services require configuration. Fake mode is the default local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implemented pipeline: OCR/local image context and fingerprinting precede claim extraction. A media match can return a stored card early. Claims check memory, then published fact-checks and speculative web research overlap, with web work cancelled when a fact-check settles the claim. Origin checks run concurrently. Web answers receive a self-check and multiple claims undergo reconciliation. Results are saved. Storage defaults to in-memory, with an optional Postgres/pgvector adapter storing hashes, claims and verdicts rather than images. Fact Check Tools API, Content Credentials, Walter Writes detector and Cloud Vision reverse image search depend on configuration. Missing signals do not establish authenticity. The diagram uses editable native objects.</a:t>
            </a:r>
          </a:p>
          <a:p xmlns:a="http://schemas.openxmlformats.org/drawingml/2006/main">
            <a:r>
              <a:t/>
            </a:r>
          </a:p>
          <a:p xmlns:a="http://schemas.openxmlformats.org/drawingml/2006/main">
            <a:r>
              <a:t>Sources: README.md and src/factcheck/pipeline.py in https://github.com/Illuminare-AI/IlluminarePipeline. Product screenshots and hackathon context supplied by the team. Live services require configuration. Fake mode is the default local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plans, not launched functionality: standalone mobile checking using saved posts, screenshots or sharing into the app. Public-service X/Twitter and Reddit bots providing evidence on attention-grabbing posts. The repo contains a Reddit scaffold, not proof of a launched public service. Compare models on claim accuracy, false AI accusations on human content, context detection, citation quality, latency and cost. The screenshot shows the existing web product, not a finished native app.</a:t>
            </a:r>
          </a:p>
          <a:p xmlns:a="http://schemas.openxmlformats.org/drawingml/2006/main">
            <a:r>
              <a:t/>
            </a:r>
          </a:p>
          <a:p xmlns:a="http://schemas.openxmlformats.org/drawingml/2006/main">
            <a:r>
              <a:t>Sources: README.md and src/factcheck/pipeline.py in https://github.com/Illuminare-AI/IlluminarePipeline. Product screenshots and hackathon context supplied by the team. Live services require configuration. Fake mode is the default local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99e39bd1df4e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c73f418c0640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dbc166036d42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eb9396e7b547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074bc1a80a4a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6358c4789d4a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8E55E5-59D5-4822-9A76-37DFA43CB6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72B81A-D12B-4D79-A231-9410ECCDB2A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3857DB-3812-42AA-93C2-285F0705AF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F89A6D-7F2B-4FA6-9B27-E8B4BEE7B3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AA4499-EF00-4F0D-AEFB-1E2B6CB246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C86628-AFE1-423E-938B-B3A670A5F5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6E418B-6365-43D1-B301-4CAD8E888E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72C35E-3C3F-46C0-8D7C-67803848E5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62911F-3B5C-48C7-BDE2-F6B5FAF91A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B3EB04-FA2D-43B5-A1ED-9E695DD8E9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27271ded454fee" /><Relationship Type="http://schemas.openxmlformats.org/officeDocument/2006/relationships/slideLayout" Target="/ppt/slideLayouts/slideLayout1.xml" Id="R13c64bdb6206436f" /><Relationship Type="http://schemas.openxmlformats.org/officeDocument/2006/relationships/slideLayout" Target="/ppt/slideLayouts/slideLayout2.xml" Id="R4876b5b718ca482b" /><Relationship Type="http://schemas.openxmlformats.org/officeDocument/2006/relationships/slideLayout" Target="/ppt/slideLayouts/slideLayout3.xml" Id="R45b9f775585042c3" /><Relationship Type="http://schemas.openxmlformats.org/officeDocument/2006/relationships/slideLayout" Target="/ppt/slideLayouts/slideLayout4.xml" Id="R5707ad3142454bce" /><Relationship Type="http://schemas.openxmlformats.org/officeDocument/2006/relationships/slideLayout" Target="/ppt/slideLayouts/slideLayout5.xml" Id="R13c0aabba805405f" /><Relationship Type="http://schemas.openxmlformats.org/officeDocument/2006/relationships/slideLayout" Target="/ppt/slideLayouts/slideLayout6.xml" Id="R2a9ac24c8a8944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c64bdb6206436f"/>
    <p:sldLayoutId xmlns:r="http://schemas.openxmlformats.org/officeDocument/2006/relationships" id="2147483650" r:id="R4876b5b718ca482b"/>
    <p:sldLayoutId xmlns:r="http://schemas.openxmlformats.org/officeDocument/2006/relationships" id="2147483651" r:id="R45b9f775585042c3"/>
    <p:sldLayoutId xmlns:r="http://schemas.openxmlformats.org/officeDocument/2006/relationships" id="2147483652" r:id="R5707ad3142454bce"/>
    <p:sldLayoutId xmlns:r="http://schemas.openxmlformats.org/officeDocument/2006/relationships" id="2147483653" r:id="R13c0aabba805405f"/>
    <p:sldLayoutId xmlns:r="http://schemas.openxmlformats.org/officeDocument/2006/relationships" id="2147483654" r:id="R2a9ac24c8a8944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051e30bcc74126" /><Relationship Type="http://schemas.openxmlformats.org/officeDocument/2006/relationships/image" Target="/ppt/media/image.png" Id="Racb6041c50674170" /><Relationship Type="http://schemas.openxmlformats.org/officeDocument/2006/relationships/image" Target="/ppt/media/image2.png" Id="Rfebf119bcb11448b" /><Relationship Type="http://schemas.openxmlformats.org/officeDocument/2006/relationships/notesSlide" Target="/ppt/notesSlides/notesSlide1.xml" Id="R987debaf99ad41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acf416217d4014" /><Relationship Type="http://schemas.openxmlformats.org/officeDocument/2006/relationships/image" Target="/ppt/media/image3.png" Id="Rf309bbb180e64a01" /><Relationship Type="http://schemas.openxmlformats.org/officeDocument/2006/relationships/notesSlide" Target="/ppt/notesSlides/notesSlide2.xml" Id="R169d9c7753c943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113d62d49046fb" /><Relationship Type="http://schemas.openxmlformats.org/officeDocument/2006/relationships/notesSlide" Target="/ppt/notesSlides/notesSlide3.xml" Id="R0925150699d442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d8d27812ab4cba" /><Relationship Type="http://schemas.openxmlformats.org/officeDocument/2006/relationships/image" Target="/ppt/media/image4.png" Id="Rb61e7df2512e4360" /><Relationship Type="http://schemas.openxmlformats.org/officeDocument/2006/relationships/notesSlide" Target="/ppt/notesSlides/notesSlide4.xml" Id="R9b95ceae9a7a4fef" /></Relationships>
</file>

<file path=ppt/slides/slide1.xml><?xml version="1.0" encoding="utf-8"?>
<p:sld xmlns:p="http://schemas.openxmlformats.org/presentationml/2006/main">
  <p:cSld>
    <p:bg>
      <p:bgPr>
        <a:solidFill xmlns:a="http://schemas.openxmlformats.org/drawingml/2006/main">
          <a:srgbClr val="191D1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EB72A8-6D77-4DF8-AEC6-5EBF0CC78A63}"/>
              </a:ext>
            </a:extLst>
          </p:cNvPr>
          <p:cNvSpPr>
            <a:spLocks xmlns:a="http://schemas.openxmlformats.org/drawingml/2006/main" noGrp="1"/>
          </p:cNvSpPr>
          <p:nvPr/>
        </p:nvSpPr>
        <p:spPr>
          <a:xfrm xmlns:a="http://schemas.openxmlformats.org/drawingml/2006/main">
            <a:off x="533400" y="26670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DCE8E"/>
                </a:solidFill>
                <a:latin typeface="Arial"/>
                <a:ea typeface="Arial"/>
                <a:cs typeface="Arial"/>
              </a:defRPr>
            </a:defPPr>
          </a:lstStyle>
          <a:p xmlns:a="http://schemas.openxmlformats.org/drawingml/2006/main">
            <a:pPr>
              <a:defRPr sz="1275" b="1">
                <a:solidFill>
                  <a:srgbClr val="BDCE8E"/>
                </a:solidFill>
                <a:latin typeface="Arial"/>
                <a:ea typeface="Arial"/>
                <a:cs typeface="Arial"/>
              </a:defRPr>
            </a:pPr>
            <a:r>
              <a:rPr sz="1275" b="1">
                <a:solidFill>
                  <a:srgbClr val="BDCE8E"/>
                </a:solidFill>
                <a:latin typeface="Arial"/>
                <a:ea typeface="Arial"/>
                <a:cs typeface="Arial"/>
              </a:rPr>
              <a:t>LUMINATE</a:t>
            </a:r>
          </a:p>
        </p:txBody>
      </p:sp>
      <p:sp>
        <p:nvSpPr>
          <p:cNvPr id="2" name="">
            <a:extLst xmlns:a="http://schemas.openxmlformats.org/drawingml/2006/main">
              <a:ext uri="{FF2B5EF4-FFF2-40B4-BE49-F238E27FC236}">
                <a16:creationId xmlns:a16="http://schemas.microsoft.com/office/drawing/2014/main" id="{DD1AAA04-C689-49FE-B514-A9C91D2116E7}"/>
              </a:ext>
            </a:extLst>
          </p:cNvPr>
          <p:cNvSpPr>
            <a:spLocks xmlns:a="http://schemas.openxmlformats.org/drawingml/2006/main" noGrp="1"/>
          </p:cNvSpPr>
          <p:nvPr/>
        </p:nvSpPr>
        <p:spPr>
          <a:xfrm xmlns:a="http://schemas.openxmlformats.org/drawingml/2006/main">
            <a:off x="1114425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4BDA9"/>
                </a:solidFill>
                <a:latin typeface="Arial"/>
                <a:ea typeface="Arial"/>
                <a:cs typeface="Arial"/>
              </a:defRPr>
            </a:defPPr>
          </a:lstStyle>
          <a:p xmlns:a="http://schemas.openxmlformats.org/drawingml/2006/main">
            <a:pPr>
              <a:defRPr sz="1275" b="0">
                <a:solidFill>
                  <a:srgbClr val="B4BDA9"/>
                </a:solidFill>
                <a:latin typeface="Arial"/>
                <a:ea typeface="Arial"/>
                <a:cs typeface="Arial"/>
              </a:defRPr>
            </a:pPr>
            <a:r>
              <a:rPr sz="1275" b="0">
                <a:solidFill>
                  <a:srgbClr val="B4BDA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52A0615-30BC-4654-BD57-7D72DD590AB5}"/>
              </a:ext>
            </a:extLst>
          </p:cNvPr>
          <p:cNvSpPr>
            <a:spLocks xmlns:a="http://schemas.openxmlformats.org/drawingml/2006/main" noGrp="1"/>
          </p:cNvSpPr>
          <p:nvPr/>
        </p:nvSpPr>
        <p:spPr>
          <a:xfrm xmlns:a="http://schemas.openxmlformats.org/drawingml/2006/main">
            <a:off x="533400" y="1247775"/>
            <a:ext cx="4000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EDF2E9"/>
                </a:solidFill>
                <a:latin typeface="Arial"/>
                <a:ea typeface="Arial"/>
                <a:cs typeface="Arial"/>
              </a:defRPr>
            </a:defPPr>
          </a:lstStyle>
          <a:p xmlns:a="http://schemas.openxmlformats.org/drawingml/2006/main">
            <a:pPr>
              <a:defRPr sz="5400" b="1">
                <a:solidFill>
                  <a:srgbClr val="EDF2E9"/>
                </a:solidFill>
                <a:latin typeface="Arial"/>
                <a:ea typeface="Arial"/>
                <a:cs typeface="Arial"/>
              </a:defRPr>
            </a:pPr>
            <a:r>
              <a:rPr sz="5400" b="1">
                <a:solidFill>
                  <a:srgbClr val="EDF2E9"/>
                </a:solidFill>
                <a:latin typeface="Arial"/>
                <a:ea typeface="Arial"/>
                <a:cs typeface="Arial"/>
              </a:rPr>
              <a:t>Luminate</a:t>
            </a:r>
          </a:p>
        </p:txBody>
      </p:sp>
      <p:sp>
        <p:nvSpPr>
          <p:cNvPr id="4" name="">
            <a:extLst xmlns:a="http://schemas.openxmlformats.org/drawingml/2006/main">
              <a:ext uri="{FF2B5EF4-FFF2-40B4-BE49-F238E27FC236}">
                <a16:creationId xmlns:a16="http://schemas.microsoft.com/office/drawing/2014/main" id="{7FA95CAB-94E7-475D-8D0E-A72F16C1AB40}"/>
              </a:ext>
            </a:extLst>
          </p:cNvPr>
          <p:cNvSpPr>
            <a:spLocks xmlns:a="http://schemas.openxmlformats.org/drawingml/2006/main" noGrp="1"/>
          </p:cNvSpPr>
          <p:nvPr/>
        </p:nvSpPr>
        <p:spPr>
          <a:xfrm xmlns:a="http://schemas.openxmlformats.org/drawingml/2006/main">
            <a:off x="533400" y="2343150"/>
            <a:ext cx="3905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EDF2E9"/>
                </a:solidFill>
                <a:latin typeface="Arial"/>
                <a:ea typeface="Arial"/>
                <a:cs typeface="Arial"/>
              </a:defRPr>
            </a:defPPr>
          </a:lstStyle>
          <a:p xmlns:a="http://schemas.openxmlformats.org/drawingml/2006/main">
            <a:pPr>
              <a:defRPr sz="3225" b="1">
                <a:solidFill>
                  <a:srgbClr val="EDF2E9"/>
                </a:solidFill>
                <a:latin typeface="Arial"/>
                <a:ea typeface="Arial"/>
                <a:cs typeface="Arial"/>
              </a:defRPr>
            </a:pPr>
            <a:r>
              <a:rPr sz="3225" b="1">
                <a:solidFill>
                  <a:srgbClr val="EDF2E9"/>
                </a:solidFill>
                <a:latin typeface="Arial"/>
                <a:ea typeface="Arial"/>
                <a:cs typeface="Arial"/>
              </a:rPr>
              <a:t>Context before</a:t>
            </a:r>
          </a:p>
          <a:p xmlns:a="http://schemas.openxmlformats.org/drawingml/2006/main">
            <a:pPr>
              <a:defRPr sz="3225" b="1">
                <a:solidFill>
                  <a:srgbClr val="EDF2E9"/>
                </a:solidFill>
                <a:latin typeface="Arial"/>
                <a:ea typeface="Arial"/>
                <a:cs typeface="Arial"/>
              </a:defRPr>
            </a:pPr>
            <a:r>
              <a:rPr sz="3225" b="1">
                <a:solidFill>
                  <a:srgbClr val="EDF2E9"/>
                </a:solidFill>
                <a:latin typeface="Arial"/>
                <a:ea typeface="Arial"/>
                <a:cs typeface="Arial"/>
              </a:rPr>
              <a:t>you share</a:t>
            </a:r>
          </a:p>
        </p:txBody>
      </p:sp>
      <p:sp>
        <p:nvSpPr>
          <p:cNvPr id="5" name="">
            <a:extLst xmlns:a="http://schemas.openxmlformats.org/drawingml/2006/main">
              <a:ext uri="{FF2B5EF4-FFF2-40B4-BE49-F238E27FC236}">
                <a16:creationId xmlns:a16="http://schemas.microsoft.com/office/drawing/2014/main" id="{2FA3C8A2-05B3-4C5B-8947-C433EFD495FC}"/>
              </a:ext>
            </a:extLst>
          </p:cNvPr>
          <p:cNvSpPr>
            <a:spLocks xmlns:a="http://schemas.openxmlformats.org/drawingml/2006/main" noGrp="1"/>
          </p:cNvSpPr>
          <p:nvPr/>
        </p:nvSpPr>
        <p:spPr>
          <a:xfrm xmlns:a="http://schemas.openxmlformats.org/drawingml/2006/main">
            <a:off x="533400" y="3800475"/>
            <a:ext cx="3762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4BDA9"/>
                </a:solidFill>
                <a:latin typeface="Arial"/>
                <a:ea typeface="Arial"/>
                <a:cs typeface="Arial"/>
              </a:defRPr>
            </a:defPPr>
          </a:lstStyle>
          <a:p xmlns:a="http://schemas.openxmlformats.org/drawingml/2006/main">
            <a:pPr>
              <a:defRPr sz="2025" b="0">
                <a:solidFill>
                  <a:srgbClr val="B4BDA9"/>
                </a:solidFill>
                <a:latin typeface="Arial"/>
                <a:ea typeface="Arial"/>
                <a:cs typeface="Arial"/>
              </a:defRPr>
            </a:pPr>
            <a:r>
              <a:rPr sz="2025" b="0">
                <a:solidFill>
                  <a:srgbClr val="B4BDA9"/>
                </a:solidFill>
                <a:latin typeface="Arial"/>
                <a:ea typeface="Arial"/>
                <a:cs typeface="Arial"/>
              </a:rPr>
              <a:t>AI-powered fact checking</a:t>
            </a:r>
          </a:p>
          <a:p xmlns:a="http://schemas.openxmlformats.org/drawingml/2006/main">
            <a:pPr>
              <a:defRPr sz="2025" b="0">
                <a:solidFill>
                  <a:srgbClr val="B4BDA9"/>
                </a:solidFill>
                <a:latin typeface="Arial"/>
                <a:ea typeface="Arial"/>
                <a:cs typeface="Arial"/>
              </a:defRPr>
            </a:pPr>
            <a:r>
              <a:rPr sz="2025" b="0">
                <a:solidFill>
                  <a:srgbClr val="B4BDA9"/>
                </a:solidFill>
                <a:latin typeface="Arial"/>
                <a:ea typeface="Arial"/>
                <a:cs typeface="Arial"/>
              </a:rPr>
              <a:t>and AI-content detection</a:t>
            </a:r>
          </a:p>
          <a:p xmlns:a="http://schemas.openxmlformats.org/drawingml/2006/main">
            <a:pPr>
              <a:defRPr sz="2025" b="0">
                <a:solidFill>
                  <a:srgbClr val="B4BDA9"/>
                </a:solidFill>
                <a:latin typeface="Arial"/>
                <a:ea typeface="Arial"/>
                <a:cs typeface="Arial"/>
              </a:defRPr>
            </a:pPr>
            <a:r>
              <a:rPr sz="2025" b="0">
                <a:solidFill>
                  <a:srgbClr val="B4BDA9"/>
                </a:solidFill>
                <a:latin typeface="Arial"/>
                <a:ea typeface="Arial"/>
                <a:cs typeface="Arial"/>
              </a:rPr>
              <a:t>for the posts in your feed.</a:t>
            </a:r>
          </a:p>
        </p:txBody>
      </p:sp>
      <p:sp>
        <p:nvSpPr>
          <p:cNvPr id="6" name="">
            <a:extLst xmlns:a="http://schemas.openxmlformats.org/drawingml/2006/main">
              <a:ext uri="{FF2B5EF4-FFF2-40B4-BE49-F238E27FC236}">
                <a16:creationId xmlns:a16="http://schemas.microsoft.com/office/drawing/2014/main" id="{118D77FD-1059-4F01-9B05-2524176800A2}"/>
              </a:ext>
            </a:extLst>
          </p:cNvPr>
          <p:cNvSpPr>
            <a:spLocks xmlns:a="http://schemas.openxmlformats.org/drawingml/2006/main" noGrp="1"/>
          </p:cNvSpPr>
          <p:nvPr/>
        </p:nvSpPr>
        <p:spPr>
          <a:xfrm xmlns:a="http://schemas.openxmlformats.org/drawingml/2006/main">
            <a:off x="533400" y="5381625"/>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DCE8E"/>
                </a:solidFill>
                <a:latin typeface="Arial"/>
                <a:ea typeface="Arial"/>
                <a:cs typeface="Arial"/>
              </a:defRPr>
            </a:defPPr>
          </a:lstStyle>
          <a:p xmlns:a="http://schemas.openxmlformats.org/drawingml/2006/main">
            <a:pPr>
              <a:defRPr sz="1950" b="1">
                <a:solidFill>
                  <a:srgbClr val="BDCE8E"/>
                </a:solidFill>
                <a:latin typeface="Arial"/>
                <a:ea typeface="Arial"/>
                <a:cs typeface="Arial"/>
              </a:defRPr>
            </a:pPr>
            <a:r>
              <a:rPr sz="1950" b="1">
                <a:solidFill>
                  <a:srgbClr val="BDCE8E"/>
                </a:solidFill>
                <a:latin typeface="Arial"/>
                <a:ea typeface="Arial"/>
                <a:cs typeface="Arial"/>
              </a:rPr>
              <a:t>Check a post on demand.</a:t>
            </a:r>
          </a:p>
          <a:p xmlns:a="http://schemas.openxmlformats.org/drawingml/2006/main">
            <a:pPr>
              <a:defRPr sz="1950" b="1">
                <a:solidFill>
                  <a:srgbClr val="BDCE8E"/>
                </a:solidFill>
                <a:latin typeface="Arial"/>
                <a:ea typeface="Arial"/>
                <a:cs typeface="Arial"/>
              </a:defRPr>
            </a:pPr>
            <a:r>
              <a:rPr sz="1950" b="1">
                <a:solidFill>
                  <a:srgbClr val="BDCE8E"/>
                </a:solidFill>
                <a:latin typeface="Arial"/>
                <a:ea typeface="Arial"/>
                <a:cs typeface="Arial"/>
              </a:rPr>
              <a:t>See the evidence behind it.</a:t>
            </a:r>
          </a:p>
        </p:txBody>
      </p:sp>
      <p:pic>
        <p:nvPicPr>
          <p:cNvPr id="7" name="">
            <a:extLst xmlns:a="http://schemas.openxmlformats.org/drawingml/2006/main">
              <a:ext uri="{FF2B5EF4-FFF2-40B4-BE49-F238E27FC236}">
                <a16:creationId xmlns:a16="http://schemas.microsoft.com/office/drawing/2014/main" id="{00FD7E6B-0DC9-45A1-8B98-EFFAC3CA3C17}"/>
              </a:ext>
            </a:extLst>
          </p:cNvPr>
          <p:cNvPicPr>
            <a:picLocks xmlns:a="http://schemas.openxmlformats.org/drawingml/2006/main" noChangeAspect="1"/>
          </p:cNvPicPr>
          <p:nvPr/>
        </p:nvPicPr>
        <p:blipFill>
          <a:blip xmlns:r="http://schemas.openxmlformats.org/officeDocument/2006/relationships" xmlns:a="http://schemas.openxmlformats.org/drawingml/2006/main" r:embed="Racb6041c50674170"/>
          <a:stretch xmlns:a="http://schemas.openxmlformats.org/drawingml/2006/main"/>
        </p:blipFill>
        <p:spPr>
          <a:xfrm xmlns:a="http://schemas.openxmlformats.org/drawingml/2006/main">
            <a:off x="4638675" y="1056642"/>
            <a:ext cx="7019925" cy="268731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393EF6D-8557-4396-990B-A7FA731D8D0B}"/>
              </a:ext>
            </a:extLst>
          </p:cNvPr>
          <p:cNvSpPr>
            <a:spLocks xmlns:a="http://schemas.openxmlformats.org/drawingml/2006/main" noGrp="1"/>
          </p:cNvSpPr>
          <p:nvPr/>
        </p:nvSpPr>
        <p:spPr>
          <a:xfrm xmlns:a="http://schemas.openxmlformats.org/drawingml/2006/main">
            <a:off x="4638675" y="3933825"/>
            <a:ext cx="6905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Browser extension in action</a:t>
            </a:r>
          </a:p>
        </p:txBody>
      </p:sp>
      <p:pic>
        <p:nvPicPr>
          <p:cNvPr id="9" name="">
            <a:extLst xmlns:a="http://schemas.openxmlformats.org/drawingml/2006/main">
              <a:ext uri="{FF2B5EF4-FFF2-40B4-BE49-F238E27FC236}">
                <a16:creationId xmlns:a16="http://schemas.microsoft.com/office/drawing/2014/main" id="{897FE750-6A17-427F-ADE7-F21B219BBC11}"/>
              </a:ext>
            </a:extLst>
          </p:cNvPr>
          <p:cNvPicPr>
            <a:picLocks xmlns:a="http://schemas.openxmlformats.org/drawingml/2006/main" noChangeAspect="1"/>
          </p:cNvPicPr>
          <p:nvPr/>
        </p:nvPicPr>
        <p:blipFill>
          <a:blip xmlns:r="http://schemas.openxmlformats.org/officeDocument/2006/relationships" xmlns:a="http://schemas.openxmlformats.org/drawingml/2006/main" r:embed="Rfebf119bcb11448b"/>
          <a:srcRect xmlns:a="http://schemas.openxmlformats.org/drawingml/2006/main" l="0" t="32500" r="1500" b="57100"/>
          <a:stretch xmlns:a="http://schemas.openxmlformats.org/drawingml/2006/main"/>
        </p:blipFill>
        <p:spPr>
          <a:xfrm xmlns:a="http://schemas.openxmlformats.org/drawingml/2006/main">
            <a:off x="4638675" y="4714875"/>
            <a:ext cx="7019925" cy="1047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034A576-92F8-4A41-8B62-318471B110E5}"/>
              </a:ext>
            </a:extLst>
          </p:cNvPr>
          <p:cNvSpPr>
            <a:spLocks xmlns:a="http://schemas.openxmlformats.org/drawingml/2006/main" noGrp="1"/>
          </p:cNvSpPr>
          <p:nvPr/>
        </p:nvSpPr>
        <p:spPr>
          <a:xfrm xmlns:a="http://schemas.openxmlformats.org/drawingml/2006/main">
            <a:off x="4638675" y="6000750"/>
            <a:ext cx="7019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Claim context and persuasion cues</a:t>
            </a:r>
          </a:p>
        </p:txBody>
      </p:sp>
    </p:spTree>
    <p:extLst>
      <p:ext uri="{BB962C8B-B14F-4D97-AF65-F5344CB8AC3E}">
        <p14:creationId xmlns:p14="http://schemas.microsoft.com/office/powerpoint/2010/main" val="196540628"/>
      </p:ext>
    </p:extLst>
  </p:cSld>
</p:sld>
</file>

<file path=ppt/slides/slide2.xml><?xml version="1.0" encoding="utf-8"?>
<p:sld xmlns:p="http://schemas.openxmlformats.org/presentationml/2006/main">
  <p:cSld>
    <p:bg>
      <p:bgPr>
        <a:solidFill xmlns:a="http://schemas.openxmlformats.org/drawingml/2006/main">
          <a:srgbClr val="191D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E1D3FD-8680-4E64-A61A-46254FE073EA}"/>
              </a:ext>
            </a:extLst>
          </p:cNvPr>
          <p:cNvSpPr>
            <a:spLocks xmlns:a="http://schemas.openxmlformats.org/drawingml/2006/main" noGrp="1"/>
          </p:cNvSpPr>
          <p:nvPr/>
        </p:nvSpPr>
        <p:spPr>
          <a:xfrm xmlns:a="http://schemas.openxmlformats.org/drawingml/2006/main">
            <a:off x="533400" y="26670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DCE8E"/>
                </a:solidFill>
                <a:latin typeface="Arial"/>
                <a:ea typeface="Arial"/>
                <a:cs typeface="Arial"/>
              </a:defRPr>
            </a:defPPr>
          </a:lstStyle>
          <a:p xmlns:a="http://schemas.openxmlformats.org/drawingml/2006/main">
            <a:pPr>
              <a:defRPr sz="1275" b="1">
                <a:solidFill>
                  <a:srgbClr val="BDCE8E"/>
                </a:solidFill>
                <a:latin typeface="Arial"/>
                <a:ea typeface="Arial"/>
                <a:cs typeface="Arial"/>
              </a:defRPr>
            </a:pPr>
            <a:r>
              <a:rPr sz="1275" b="1">
                <a:solidFill>
                  <a:srgbClr val="BDCE8E"/>
                </a:solidFill>
                <a:latin typeface="Arial"/>
                <a:ea typeface="Arial"/>
                <a:cs typeface="Arial"/>
              </a:rPr>
              <a:t>LUMINATE</a:t>
            </a:r>
          </a:p>
        </p:txBody>
      </p:sp>
      <p:sp>
        <p:nvSpPr>
          <p:cNvPr id="2" name="">
            <a:extLst xmlns:a="http://schemas.openxmlformats.org/drawingml/2006/main">
              <a:ext uri="{FF2B5EF4-FFF2-40B4-BE49-F238E27FC236}">
                <a16:creationId xmlns:a16="http://schemas.microsoft.com/office/drawing/2014/main" id="{ECF69755-B932-49B9-91D8-3E2076EF19CF}"/>
              </a:ext>
            </a:extLst>
          </p:cNvPr>
          <p:cNvSpPr>
            <a:spLocks xmlns:a="http://schemas.openxmlformats.org/drawingml/2006/main" noGrp="1"/>
          </p:cNvSpPr>
          <p:nvPr/>
        </p:nvSpPr>
        <p:spPr>
          <a:xfrm xmlns:a="http://schemas.openxmlformats.org/drawingml/2006/main">
            <a:off x="1114425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4BDA9"/>
                </a:solidFill>
                <a:latin typeface="Arial"/>
                <a:ea typeface="Arial"/>
                <a:cs typeface="Arial"/>
              </a:defRPr>
            </a:defPPr>
          </a:lstStyle>
          <a:p xmlns:a="http://schemas.openxmlformats.org/drawingml/2006/main">
            <a:pPr>
              <a:defRPr sz="1275" b="0">
                <a:solidFill>
                  <a:srgbClr val="B4BDA9"/>
                </a:solidFill>
                <a:latin typeface="Arial"/>
                <a:ea typeface="Arial"/>
                <a:cs typeface="Arial"/>
              </a:defRPr>
            </a:pPr>
            <a:r>
              <a:rPr sz="1275" b="0">
                <a:solidFill>
                  <a:srgbClr val="B4BDA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22F2AD4-9474-4EB8-B64B-C2694FA0EDF0}"/>
              </a:ext>
            </a:extLst>
          </p:cNvPr>
          <p:cNvSpPr>
            <a:spLocks xmlns:a="http://schemas.openxmlformats.org/drawingml/2006/main" noGrp="1"/>
          </p:cNvSpPr>
          <p:nvPr/>
        </p:nvSpPr>
        <p:spPr>
          <a:xfrm xmlns:a="http://schemas.openxmlformats.org/drawingml/2006/main">
            <a:off x="533400" y="790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EDF2E9"/>
                </a:solidFill>
                <a:latin typeface="Arial"/>
                <a:ea typeface="Arial"/>
                <a:cs typeface="Arial"/>
              </a:defRPr>
            </a:defPPr>
          </a:lstStyle>
          <a:p xmlns:a="http://schemas.openxmlformats.org/drawingml/2006/main">
            <a:pPr>
              <a:defRPr sz="3225" b="1">
                <a:solidFill>
                  <a:srgbClr val="EDF2E9"/>
                </a:solidFill>
                <a:latin typeface="Arial"/>
                <a:ea typeface="Arial"/>
                <a:cs typeface="Arial"/>
              </a:defRPr>
            </a:pPr>
            <a:r>
              <a:rPr sz="3225" b="1">
                <a:solidFill>
                  <a:srgbClr val="EDF2E9"/>
                </a:solidFill>
                <a:latin typeface="Arial"/>
                <a:ea typeface="Arial"/>
                <a:cs typeface="Arial"/>
              </a:rPr>
              <a:t>A news feed with a trust problem</a:t>
            </a:r>
          </a:p>
        </p:txBody>
      </p:sp>
      <p:pic>
        <p:nvPicPr>
          <p:cNvPr id="4" name="">
            <a:extLst xmlns:a="http://schemas.openxmlformats.org/drawingml/2006/main">
              <a:ext uri="{FF2B5EF4-FFF2-40B4-BE49-F238E27FC236}">
                <a16:creationId xmlns:a16="http://schemas.microsoft.com/office/drawing/2014/main" id="{85D0CDBF-1490-4D02-A25D-95506CA89658}"/>
              </a:ext>
            </a:extLst>
          </p:cNvPr>
          <p:cNvPicPr>
            <a:picLocks xmlns:a="http://schemas.openxmlformats.org/drawingml/2006/main" noChangeAspect="1"/>
          </p:cNvPicPr>
          <p:nvPr/>
        </p:nvPicPr>
        <p:blipFill>
          <a:blip xmlns:r="http://schemas.openxmlformats.org/officeDocument/2006/relationships" xmlns:a="http://schemas.openxmlformats.org/drawingml/2006/main" r:embed="Rf309bbb180e64a01"/>
          <a:stretch xmlns:a="http://schemas.openxmlformats.org/drawingml/2006/main"/>
        </p:blipFill>
        <p:spPr>
          <a:xfrm xmlns:a="http://schemas.openxmlformats.org/drawingml/2006/main">
            <a:off x="535051" y="1676400"/>
            <a:ext cx="6740397" cy="4981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651758-6E04-4884-8DA1-2070EB43556B}"/>
              </a:ext>
            </a:extLst>
          </p:cNvPr>
          <p:cNvSpPr>
            <a:spLocks xmlns:a="http://schemas.openxmlformats.org/drawingml/2006/main" noGrp="1"/>
          </p:cNvSpPr>
          <p:nvPr/>
        </p:nvSpPr>
        <p:spPr>
          <a:xfrm xmlns:a="http://schemas.openxmlformats.org/drawingml/2006/main">
            <a:off x="7839075" y="1695450"/>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450" b="1">
                <a:solidFill>
                  <a:srgbClr val="BDCE8E"/>
                </a:solidFill>
                <a:latin typeface="Arial"/>
                <a:ea typeface="Arial"/>
                <a:cs typeface="Arial"/>
              </a:defRPr>
            </a:defPPr>
          </a:lstStyle>
          <a:p xmlns:a="http://schemas.openxmlformats.org/drawingml/2006/main">
            <a:pPr>
              <a:defRPr sz="6450" b="1">
                <a:solidFill>
                  <a:srgbClr val="BDCE8E"/>
                </a:solidFill>
                <a:latin typeface="Arial"/>
                <a:ea typeface="Arial"/>
                <a:cs typeface="Arial"/>
              </a:defRPr>
            </a:pPr>
            <a:r>
              <a:rPr sz="6450" b="1">
                <a:solidFill>
                  <a:srgbClr val="BDCE8E"/>
                </a:solidFill>
                <a:latin typeface="Arial"/>
                <a:ea typeface="Arial"/>
                <a:cs typeface="Arial"/>
              </a:rPr>
              <a:t>53%</a:t>
            </a:r>
          </a:p>
        </p:txBody>
      </p:sp>
      <p:sp>
        <p:nvSpPr>
          <p:cNvPr id="6" name="">
            <a:extLst xmlns:a="http://schemas.openxmlformats.org/drawingml/2006/main">
              <a:ext uri="{FF2B5EF4-FFF2-40B4-BE49-F238E27FC236}">
                <a16:creationId xmlns:a16="http://schemas.microsoft.com/office/drawing/2014/main" id="{C588E182-F566-48EB-B0D1-65B3EC918728}"/>
              </a:ext>
            </a:extLst>
          </p:cNvPr>
          <p:cNvSpPr>
            <a:spLocks xmlns:a="http://schemas.openxmlformats.org/drawingml/2006/main" noGrp="1"/>
          </p:cNvSpPr>
          <p:nvPr/>
        </p:nvSpPr>
        <p:spPr>
          <a:xfrm xmlns:a="http://schemas.openxmlformats.org/drawingml/2006/main">
            <a:off x="7858125" y="2724150"/>
            <a:ext cx="3676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EDF2E9"/>
                </a:solidFill>
                <a:latin typeface="Arial"/>
                <a:ea typeface="Arial"/>
                <a:cs typeface="Arial"/>
              </a:defRPr>
            </a:defPPr>
          </a:lstStyle>
          <a:p xmlns:a="http://schemas.openxmlformats.org/drawingml/2006/main">
            <a:pPr>
              <a:defRPr sz="2025" b="0">
                <a:solidFill>
                  <a:srgbClr val="EDF2E9"/>
                </a:solidFill>
                <a:latin typeface="Arial"/>
                <a:ea typeface="Arial"/>
                <a:cs typeface="Arial"/>
              </a:defRPr>
            </a:pPr>
            <a:r>
              <a:rPr sz="2025" b="0">
                <a:solidFill>
                  <a:srgbClr val="EDF2E9"/>
                </a:solidFill>
                <a:latin typeface="Arial"/>
                <a:ea typeface="Arial"/>
                <a:cs typeface="Arial"/>
              </a:rPr>
              <a:t>of U.S. adults get news</a:t>
            </a:r>
          </a:p>
          <a:p xmlns:a="http://schemas.openxmlformats.org/drawingml/2006/main">
            <a:pPr>
              <a:defRPr sz="2025" b="0">
                <a:solidFill>
                  <a:srgbClr val="EDF2E9"/>
                </a:solidFill>
                <a:latin typeface="Arial"/>
                <a:ea typeface="Arial"/>
                <a:cs typeface="Arial"/>
              </a:defRPr>
            </a:pPr>
            <a:r>
              <a:rPr sz="2025" b="0">
                <a:solidFill>
                  <a:srgbClr val="EDF2E9"/>
                </a:solidFill>
                <a:latin typeface="Arial"/>
                <a:ea typeface="Arial"/>
                <a:cs typeface="Arial"/>
              </a:rPr>
              <a:t>from social media at</a:t>
            </a:r>
          </a:p>
          <a:p xmlns:a="http://schemas.openxmlformats.org/drawingml/2006/main">
            <a:pPr>
              <a:defRPr sz="2025" b="0">
                <a:solidFill>
                  <a:srgbClr val="EDF2E9"/>
                </a:solidFill>
                <a:latin typeface="Arial"/>
                <a:ea typeface="Arial"/>
                <a:cs typeface="Arial"/>
              </a:defRPr>
            </a:pPr>
            <a:r>
              <a:rPr sz="2025" b="0">
                <a:solidFill>
                  <a:srgbClr val="EDF2E9"/>
                </a:solidFill>
                <a:latin typeface="Arial"/>
                <a:ea typeface="Arial"/>
                <a:cs typeface="Arial"/>
              </a:rPr>
              <a:t>least sometimes</a:t>
            </a:r>
          </a:p>
        </p:txBody>
      </p:sp>
      <p:sp>
        <p:nvSpPr>
          <p:cNvPr id="7" name="">
            <a:extLst xmlns:a="http://schemas.openxmlformats.org/drawingml/2006/main">
              <a:ext uri="{FF2B5EF4-FFF2-40B4-BE49-F238E27FC236}">
                <a16:creationId xmlns:a16="http://schemas.microsoft.com/office/drawing/2014/main" id="{84B0AD9E-E634-4B8F-9F2E-44C7F967CCEC}"/>
              </a:ext>
            </a:extLst>
          </p:cNvPr>
          <p:cNvSpPr>
            <a:spLocks xmlns:a="http://schemas.openxmlformats.org/drawingml/2006/main" noGrp="1"/>
          </p:cNvSpPr>
          <p:nvPr/>
        </p:nvSpPr>
        <p:spPr>
          <a:xfrm xmlns:a="http://schemas.openxmlformats.org/drawingml/2006/main">
            <a:off x="7858125" y="409575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DF2E9"/>
                </a:solidFill>
                <a:latin typeface="Arial"/>
                <a:ea typeface="Arial"/>
                <a:cs typeface="Arial"/>
              </a:defRPr>
            </a:defPPr>
          </a:lstStyle>
          <a:p xmlns:a="http://schemas.openxmlformats.org/drawingml/2006/main">
            <a:pPr>
              <a:defRPr sz="2025" b="1">
                <a:solidFill>
                  <a:srgbClr val="EDF2E9"/>
                </a:solidFill>
                <a:latin typeface="Arial"/>
                <a:ea typeface="Arial"/>
                <a:cs typeface="Arial"/>
              </a:defRPr>
            </a:pPr>
            <a:r>
              <a:rPr sz="2025" b="1">
                <a:solidFill>
                  <a:srgbClr val="EDF2E9"/>
                </a:solidFill>
                <a:latin typeface="Arial"/>
                <a:ea typeface="Arial"/>
                <a:cs typeface="Arial"/>
              </a:rPr>
              <a:t>Misleading posts lose context.</a:t>
            </a:r>
          </a:p>
        </p:txBody>
      </p:sp>
      <p:sp>
        <p:nvSpPr>
          <p:cNvPr id="8" name="">
            <a:extLst xmlns:a="http://schemas.openxmlformats.org/drawingml/2006/main">
              <a:ext uri="{FF2B5EF4-FFF2-40B4-BE49-F238E27FC236}">
                <a16:creationId xmlns:a16="http://schemas.microsoft.com/office/drawing/2014/main" id="{AD2A103E-4953-4575-AD29-ACCE6A93B678}"/>
              </a:ext>
            </a:extLst>
          </p:cNvPr>
          <p:cNvSpPr>
            <a:spLocks xmlns:a="http://schemas.openxmlformats.org/drawingml/2006/main" noGrp="1"/>
          </p:cNvSpPr>
          <p:nvPr/>
        </p:nvSpPr>
        <p:spPr>
          <a:xfrm xmlns:a="http://schemas.openxmlformats.org/drawingml/2006/main">
            <a:off x="7858125" y="4886325"/>
            <a:ext cx="371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DF2E9"/>
                </a:solidFill>
                <a:latin typeface="Arial"/>
                <a:ea typeface="Arial"/>
                <a:cs typeface="Arial"/>
              </a:defRPr>
            </a:defPPr>
          </a:lstStyle>
          <a:p xmlns:a="http://schemas.openxmlformats.org/drawingml/2006/main">
            <a:pPr>
              <a:defRPr sz="2025" b="1">
                <a:solidFill>
                  <a:srgbClr val="EDF2E9"/>
                </a:solidFill>
                <a:latin typeface="Arial"/>
                <a:ea typeface="Arial"/>
                <a:cs typeface="Arial"/>
              </a:defRPr>
            </a:pPr>
            <a:r>
              <a:rPr sz="2025" b="1">
                <a:solidFill>
                  <a:srgbClr val="EDF2E9"/>
                </a:solidFill>
                <a:latin typeface="Arial"/>
                <a:ea typeface="Arial"/>
                <a:cs typeface="Arial"/>
              </a:rPr>
              <a:t>AI suspicion puts human</a:t>
            </a:r>
          </a:p>
          <a:p xmlns:a="http://schemas.openxmlformats.org/drawingml/2006/main">
            <a:pPr>
              <a:defRPr sz="2025" b="1">
                <a:solidFill>
                  <a:srgbClr val="EDF2E9"/>
                </a:solidFill>
                <a:latin typeface="Arial"/>
                <a:ea typeface="Arial"/>
                <a:cs typeface="Arial"/>
              </a:defRPr>
            </a:pPr>
            <a:r>
              <a:rPr sz="2025" b="1">
                <a:solidFill>
                  <a:srgbClr val="EDF2E9"/>
                </a:solidFill>
                <a:latin typeface="Arial"/>
                <a:ea typeface="Arial"/>
                <a:cs typeface="Arial"/>
              </a:rPr>
              <a:t>content under doubt, too.</a:t>
            </a:r>
          </a:p>
        </p:txBody>
      </p:sp>
      <p:sp>
        <p:nvSpPr>
          <p:cNvPr id="9" name="">
            <a:extLst xmlns:a="http://schemas.openxmlformats.org/drawingml/2006/main">
              <a:ext uri="{FF2B5EF4-FFF2-40B4-BE49-F238E27FC236}">
                <a16:creationId xmlns:a16="http://schemas.microsoft.com/office/drawing/2014/main" id="{ADAF9450-7E1E-4E53-9F62-C85E1925B0D7}"/>
              </a:ext>
            </a:extLst>
          </p:cNvPr>
          <p:cNvSpPr>
            <a:spLocks xmlns:a="http://schemas.openxmlformats.org/drawingml/2006/main" noGrp="1"/>
          </p:cNvSpPr>
          <p:nvPr/>
        </p:nvSpPr>
        <p:spPr>
          <a:xfrm xmlns:a="http://schemas.openxmlformats.org/drawingml/2006/main">
            <a:off x="7858125" y="59245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DCE8E"/>
                </a:solidFill>
                <a:latin typeface="Arial"/>
                <a:ea typeface="Arial"/>
                <a:cs typeface="Arial"/>
              </a:defRPr>
            </a:defPPr>
          </a:lstStyle>
          <a:p xmlns:a="http://schemas.openxmlformats.org/drawingml/2006/main">
            <a:pPr>
              <a:defRPr sz="1950" b="1">
                <a:solidFill>
                  <a:srgbClr val="BDCE8E"/>
                </a:solidFill>
                <a:latin typeface="Arial"/>
                <a:ea typeface="Arial"/>
                <a:cs typeface="Arial"/>
              </a:defRPr>
            </a:pPr>
            <a:r>
              <a:rPr sz="1950" b="1">
                <a:solidFill>
                  <a:srgbClr val="BDCE8E"/>
                </a:solidFill>
                <a:latin typeface="Arial"/>
                <a:ea typeface="Arial"/>
                <a:cs typeface="Arial"/>
              </a:rPr>
              <a:t>On-demand checks, before</a:t>
            </a:r>
          </a:p>
          <a:p xmlns:a="http://schemas.openxmlformats.org/drawingml/2006/main">
            <a:pPr>
              <a:defRPr sz="1950" b="1">
                <a:solidFill>
                  <a:srgbClr val="BDCE8E"/>
                </a:solidFill>
                <a:latin typeface="Arial"/>
                <a:ea typeface="Arial"/>
                <a:cs typeface="Arial"/>
              </a:defRPr>
            </a:pPr>
            <a:r>
              <a:rPr sz="1950" b="1">
                <a:solidFill>
                  <a:srgbClr val="BDCE8E"/>
                </a:solidFill>
                <a:latin typeface="Arial"/>
                <a:ea typeface="Arial"/>
                <a:cs typeface="Arial"/>
              </a:rPr>
              <a:t>the next correction arrives.</a:t>
            </a:r>
          </a:p>
        </p:txBody>
      </p:sp>
    </p:spTree>
    <p:extLst>
      <p:ext uri="{BB962C8B-B14F-4D97-AF65-F5344CB8AC3E}">
        <p14:creationId xmlns:p14="http://schemas.microsoft.com/office/powerpoint/2010/main" val="2063843898"/>
      </p:ext>
    </p:extLst>
  </p:cSld>
</p:sld>
</file>

<file path=ppt/slides/slide3.xml><?xml version="1.0" encoding="utf-8"?>
<p:sld xmlns:p="http://schemas.openxmlformats.org/presentationml/2006/main">
  <p:cSld>
    <p:bg>
      <p:bgPr>
        <a:solidFill xmlns:a="http://schemas.openxmlformats.org/drawingml/2006/main">
          <a:srgbClr val="191D1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2BBFDC5-F6D3-4874-AC2B-31AF5A17AC03}"/>
              </a:ext>
            </a:extLst>
          </p:cNvPr>
          <p:cNvSpPr>
            <a:spLocks xmlns:a="http://schemas.openxmlformats.org/drawingml/2006/main" noGrp="1"/>
          </p:cNvSpPr>
          <p:nvPr/>
        </p:nvSpPr>
        <p:spPr>
          <a:xfrm xmlns:a="http://schemas.openxmlformats.org/drawingml/2006/main">
            <a:off x="533400" y="26670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DCE8E"/>
                </a:solidFill>
                <a:latin typeface="Arial"/>
                <a:ea typeface="Arial"/>
                <a:cs typeface="Arial"/>
              </a:defRPr>
            </a:defPPr>
          </a:lstStyle>
          <a:p xmlns:a="http://schemas.openxmlformats.org/drawingml/2006/main">
            <a:pPr>
              <a:defRPr sz="1275" b="1">
                <a:solidFill>
                  <a:srgbClr val="BDCE8E"/>
                </a:solidFill>
                <a:latin typeface="Arial"/>
                <a:ea typeface="Arial"/>
                <a:cs typeface="Arial"/>
              </a:defRPr>
            </a:pPr>
            <a:r>
              <a:rPr sz="1275" b="1">
                <a:solidFill>
                  <a:srgbClr val="BDCE8E"/>
                </a:solidFill>
                <a:latin typeface="Arial"/>
                <a:ea typeface="Arial"/>
                <a:cs typeface="Arial"/>
              </a:rPr>
              <a:t>LUMINATE</a:t>
            </a:r>
          </a:p>
        </p:txBody>
      </p:sp>
      <p:sp>
        <p:nvSpPr>
          <p:cNvPr id="2" name="">
            <a:extLst xmlns:a="http://schemas.openxmlformats.org/drawingml/2006/main">
              <a:ext uri="{FF2B5EF4-FFF2-40B4-BE49-F238E27FC236}">
                <a16:creationId xmlns:a16="http://schemas.microsoft.com/office/drawing/2014/main" id="{7D4851C6-01B9-4AC7-A773-1D0B9D085F07}"/>
              </a:ext>
            </a:extLst>
          </p:cNvPr>
          <p:cNvSpPr>
            <a:spLocks xmlns:a="http://schemas.openxmlformats.org/drawingml/2006/main" noGrp="1"/>
          </p:cNvSpPr>
          <p:nvPr/>
        </p:nvSpPr>
        <p:spPr>
          <a:xfrm xmlns:a="http://schemas.openxmlformats.org/drawingml/2006/main">
            <a:off x="1114425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4BDA9"/>
                </a:solidFill>
                <a:latin typeface="Arial"/>
                <a:ea typeface="Arial"/>
                <a:cs typeface="Arial"/>
              </a:defRPr>
            </a:defPPr>
          </a:lstStyle>
          <a:p xmlns:a="http://schemas.openxmlformats.org/drawingml/2006/main">
            <a:pPr>
              <a:defRPr sz="1275" b="0">
                <a:solidFill>
                  <a:srgbClr val="B4BDA9"/>
                </a:solidFill>
                <a:latin typeface="Arial"/>
                <a:ea typeface="Arial"/>
                <a:cs typeface="Arial"/>
              </a:defRPr>
            </a:pPr>
            <a:r>
              <a:rPr sz="1275" b="0">
                <a:solidFill>
                  <a:srgbClr val="B4BDA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5343B70-9BCC-48E6-B261-46B40D50A474}"/>
              </a:ext>
            </a:extLst>
          </p:cNvPr>
          <p:cNvSpPr>
            <a:spLocks xmlns:a="http://schemas.openxmlformats.org/drawingml/2006/main" noGrp="1"/>
          </p:cNvSpPr>
          <p:nvPr/>
        </p:nvSpPr>
        <p:spPr>
          <a:xfrm xmlns:a="http://schemas.openxmlformats.org/drawingml/2006/main">
            <a:off x="533400" y="790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EDF2E9"/>
                </a:solidFill>
                <a:latin typeface="Arial"/>
                <a:ea typeface="Arial"/>
                <a:cs typeface="Arial"/>
              </a:defRPr>
            </a:defPPr>
          </a:lstStyle>
          <a:p xmlns:a="http://schemas.openxmlformats.org/drawingml/2006/main">
            <a:pPr>
              <a:defRPr sz="3225" b="1">
                <a:solidFill>
                  <a:srgbClr val="EDF2E9"/>
                </a:solidFill>
                <a:latin typeface="Arial"/>
                <a:ea typeface="Arial"/>
                <a:cs typeface="Arial"/>
              </a:defRPr>
            </a:pPr>
            <a:r>
              <a:rPr sz="3225" b="1">
                <a:solidFill>
                  <a:srgbClr val="EDF2E9"/>
                </a:solidFill>
                <a:latin typeface="Arial"/>
                <a:ea typeface="Arial"/>
                <a:cs typeface="Arial"/>
              </a:rPr>
              <a:t>How a post becomes an evidence card</a:t>
            </a:r>
          </a:p>
        </p:txBody>
      </p:sp>
      <p:sp>
        <p:nvSpPr>
          <p:cNvPr id="4" name="">
            <a:extLst xmlns:a="http://schemas.openxmlformats.org/drawingml/2006/main">
              <a:ext uri="{FF2B5EF4-FFF2-40B4-BE49-F238E27FC236}">
                <a16:creationId xmlns:a16="http://schemas.microsoft.com/office/drawing/2014/main" id="{4A0E8A1B-B9F7-43FF-8DE0-155C928CF817}"/>
              </a:ext>
            </a:extLst>
          </p:cNvPr>
          <p:cNvSpPr>
            <a:spLocks xmlns:a="http://schemas.openxmlformats.org/drawingml/2006/main" noGrp="1"/>
          </p:cNvSpPr>
          <p:nvPr/>
        </p:nvSpPr>
        <p:spPr>
          <a:xfrm xmlns:a="http://schemas.openxmlformats.org/drawingml/2006/main">
            <a:off x="533400" y="14954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BDA9"/>
                </a:solidFill>
                <a:latin typeface="Arial"/>
                <a:ea typeface="Arial"/>
                <a:cs typeface="Arial"/>
              </a:defRPr>
            </a:defPPr>
          </a:lstStyle>
          <a:p xmlns:a="http://schemas.openxmlformats.org/drawingml/2006/main">
            <a:pPr>
              <a:defRPr sz="1875" b="0">
                <a:solidFill>
                  <a:srgbClr val="B4BDA9"/>
                </a:solidFill>
                <a:latin typeface="Arial"/>
                <a:ea typeface="Arial"/>
                <a:cs typeface="Arial"/>
              </a:defRPr>
            </a:pPr>
            <a:r>
              <a:rPr sz="1875" b="0">
                <a:solidFill>
                  <a:srgbClr val="B4BDA9"/>
                </a:solidFill>
                <a:latin typeface="Arial"/>
                <a:ea typeface="Arial"/>
                <a:cs typeface="Arial"/>
              </a:rPr>
              <a:t>One /check endpoint. Claims and origin checks run concurrently.</a:t>
            </a:r>
          </a:p>
        </p:txBody>
      </p:sp>
      <p:sp>
        <p:nvSpPr>
          <p:cNvPr id="5" name="">
            <a:extLst xmlns:a="http://schemas.openxmlformats.org/drawingml/2006/main">
              <a:ext uri="{FF2B5EF4-FFF2-40B4-BE49-F238E27FC236}">
                <a16:creationId xmlns:a16="http://schemas.microsoft.com/office/drawing/2014/main" id="{D010F7DB-563F-4EC5-BD9F-36CEC839AF28}"/>
              </a:ext>
            </a:extLst>
          </p:cNvPr>
          <p:cNvSpPr>
            <a:spLocks xmlns:a="http://schemas.openxmlformats.org/drawingml/2006/main" noGrp="1"/>
          </p:cNvSpPr>
          <p:nvPr/>
        </p:nvSpPr>
        <p:spPr>
          <a:xfrm xmlns:a="http://schemas.openxmlformats.org/drawingml/2006/main">
            <a:off x="533400" y="2238375"/>
            <a:ext cx="1866900" cy="1095375"/>
          </a:xfrm>
          <a:prstGeom xmlns:a="http://schemas.openxmlformats.org/drawingml/2006/main" prst="rect">
            <a:avLst/>
          </a:prstGeom>
          <a:solidFill xmlns:a="http://schemas.openxmlformats.org/drawingml/2006/main">
            <a:srgbClr val="29321F"/>
          </a:solidFill>
          <a:ln xmlns:a="http://schemas.openxmlformats.org/drawingml/2006/main" w="9525">
            <a:solidFill>
              <a:srgbClr val="7E9061"/>
            </a:solidFill>
          </a:ln>
        </p:spPr>
      </p:sp>
      <p:sp>
        <p:nvSpPr>
          <p:cNvPr id="6" name="">
            <a:extLst xmlns:a="http://schemas.openxmlformats.org/drawingml/2006/main">
              <a:ext uri="{FF2B5EF4-FFF2-40B4-BE49-F238E27FC236}">
                <a16:creationId xmlns:a16="http://schemas.microsoft.com/office/drawing/2014/main" id="{55E9BFFB-104F-4E71-850E-5F6725DE9600}"/>
              </a:ext>
            </a:extLst>
          </p:cNvPr>
          <p:cNvSpPr>
            <a:spLocks xmlns:a="http://schemas.openxmlformats.org/drawingml/2006/main" noGrp="1"/>
          </p:cNvSpPr>
          <p:nvPr/>
        </p:nvSpPr>
        <p:spPr>
          <a:xfrm xmlns:a="http://schemas.openxmlformats.org/drawingml/2006/main">
            <a:off x="685800" y="2400300"/>
            <a:ext cx="1562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DF2E9"/>
                </a:solidFill>
                <a:latin typeface="Arial"/>
                <a:ea typeface="Arial"/>
                <a:cs typeface="Arial"/>
              </a:defRPr>
            </a:defPPr>
          </a:lstStyle>
          <a:p xmlns:a="http://schemas.openxmlformats.org/drawingml/2006/main">
            <a:pPr>
              <a:defRPr sz="1875" b="1">
                <a:solidFill>
                  <a:srgbClr val="EDF2E9"/>
                </a:solidFill>
                <a:latin typeface="Arial"/>
                <a:ea typeface="Arial"/>
                <a:cs typeface="Arial"/>
              </a:defRPr>
            </a:pPr>
            <a:r>
              <a:rPr sz="1875" b="1">
                <a:solidFill>
                  <a:srgbClr val="EDF2E9"/>
                </a:solidFill>
                <a:latin typeface="Arial"/>
                <a:ea typeface="Arial"/>
                <a:cs typeface="Arial"/>
              </a:rPr>
              <a:t>Read</a:t>
            </a:r>
          </a:p>
        </p:txBody>
      </p:sp>
      <p:sp>
        <p:nvSpPr>
          <p:cNvPr id="7" name="">
            <a:extLst xmlns:a="http://schemas.openxmlformats.org/drawingml/2006/main">
              <a:ext uri="{FF2B5EF4-FFF2-40B4-BE49-F238E27FC236}">
                <a16:creationId xmlns:a16="http://schemas.microsoft.com/office/drawing/2014/main" id="{B17DCDCD-D60F-4CCB-A992-6F3182E5148A}"/>
              </a:ext>
            </a:extLst>
          </p:cNvPr>
          <p:cNvSpPr>
            <a:spLocks xmlns:a="http://schemas.openxmlformats.org/drawingml/2006/main" noGrp="1"/>
          </p:cNvSpPr>
          <p:nvPr/>
        </p:nvSpPr>
        <p:spPr>
          <a:xfrm xmlns:a="http://schemas.openxmlformats.org/drawingml/2006/main">
            <a:off x="685800" y="2781300"/>
            <a:ext cx="1562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OCR + hash</a:t>
            </a:r>
          </a:p>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Extract claims</a:t>
            </a:r>
          </a:p>
        </p:txBody>
      </p:sp>
      <p:sp>
        <p:nvSpPr>
          <p:cNvPr id="8" name="">
            <a:extLst xmlns:a="http://schemas.openxmlformats.org/drawingml/2006/main">
              <a:ext uri="{FF2B5EF4-FFF2-40B4-BE49-F238E27FC236}">
                <a16:creationId xmlns:a16="http://schemas.microsoft.com/office/drawing/2014/main" id="{E320EBB5-117E-49C3-BE00-1C65ED34F490}"/>
              </a:ext>
            </a:extLst>
          </p:cNvPr>
          <p:cNvSpPr>
            <a:spLocks xmlns:a="http://schemas.openxmlformats.org/drawingml/2006/main" noGrp="1"/>
          </p:cNvSpPr>
          <p:nvPr/>
        </p:nvSpPr>
        <p:spPr>
          <a:xfrm xmlns:a="http://schemas.openxmlformats.org/drawingml/2006/main">
            <a:off x="2476500" y="2676525"/>
            <a:ext cx="333375" cy="171450"/>
          </a:xfrm>
          <a:prstGeom xmlns:a="http://schemas.openxmlformats.org/drawingml/2006/main" prst="rightArrow">
            <a:avLst/>
          </a:prstGeom>
          <a:solidFill xmlns:a="http://schemas.openxmlformats.org/drawingml/2006/main">
            <a:srgbClr val="BDCE8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904666-15D4-4DFC-9FD4-FF3002608004}"/>
              </a:ext>
            </a:extLst>
          </p:cNvPr>
          <p:cNvSpPr>
            <a:spLocks xmlns:a="http://schemas.openxmlformats.org/drawingml/2006/main" noGrp="1"/>
          </p:cNvSpPr>
          <p:nvPr/>
        </p:nvSpPr>
        <p:spPr>
          <a:xfrm xmlns:a="http://schemas.openxmlformats.org/drawingml/2006/main">
            <a:off x="2886075" y="2238375"/>
            <a:ext cx="1866900" cy="1095375"/>
          </a:xfrm>
          <a:prstGeom xmlns:a="http://schemas.openxmlformats.org/drawingml/2006/main" prst="rect">
            <a:avLst/>
          </a:prstGeom>
          <a:solidFill xmlns:a="http://schemas.openxmlformats.org/drawingml/2006/main">
            <a:srgbClr val="29321F"/>
          </a:solidFill>
          <a:ln xmlns:a="http://schemas.openxmlformats.org/drawingml/2006/main" w="9525">
            <a:solidFill>
              <a:srgbClr val="7E9061"/>
            </a:solidFill>
          </a:ln>
        </p:spPr>
      </p:sp>
      <p:sp>
        <p:nvSpPr>
          <p:cNvPr id="10" name="">
            <a:extLst xmlns:a="http://schemas.openxmlformats.org/drawingml/2006/main">
              <a:ext uri="{FF2B5EF4-FFF2-40B4-BE49-F238E27FC236}">
                <a16:creationId xmlns:a16="http://schemas.microsoft.com/office/drawing/2014/main" id="{EF0FA0FF-4669-4539-B383-1017119D4F9C}"/>
              </a:ext>
            </a:extLst>
          </p:cNvPr>
          <p:cNvSpPr>
            <a:spLocks xmlns:a="http://schemas.openxmlformats.org/drawingml/2006/main" noGrp="1"/>
          </p:cNvSpPr>
          <p:nvPr/>
        </p:nvSpPr>
        <p:spPr>
          <a:xfrm xmlns:a="http://schemas.openxmlformats.org/drawingml/2006/main">
            <a:off x="3038475" y="2400300"/>
            <a:ext cx="1562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DF2E9"/>
                </a:solidFill>
                <a:latin typeface="Arial"/>
                <a:ea typeface="Arial"/>
                <a:cs typeface="Arial"/>
              </a:defRPr>
            </a:defPPr>
          </a:lstStyle>
          <a:p xmlns:a="http://schemas.openxmlformats.org/drawingml/2006/main">
            <a:pPr>
              <a:defRPr sz="1875" b="1">
                <a:solidFill>
                  <a:srgbClr val="EDF2E9"/>
                </a:solidFill>
                <a:latin typeface="Arial"/>
                <a:ea typeface="Arial"/>
                <a:cs typeface="Arial"/>
              </a:defRPr>
            </a:pPr>
            <a:r>
              <a:rPr sz="1875" b="1">
                <a:solidFill>
                  <a:srgbClr val="EDF2E9"/>
                </a:solidFill>
                <a:latin typeface="Arial"/>
                <a:ea typeface="Arial"/>
                <a:cs typeface="Arial"/>
              </a:rPr>
              <a:t>Recall</a:t>
            </a:r>
          </a:p>
        </p:txBody>
      </p:sp>
      <p:sp>
        <p:nvSpPr>
          <p:cNvPr id="11" name="">
            <a:extLst xmlns:a="http://schemas.openxmlformats.org/drawingml/2006/main">
              <a:ext uri="{FF2B5EF4-FFF2-40B4-BE49-F238E27FC236}">
                <a16:creationId xmlns:a16="http://schemas.microsoft.com/office/drawing/2014/main" id="{16D81C25-4B85-408E-9E57-E04291CEC9F9}"/>
              </a:ext>
            </a:extLst>
          </p:cNvPr>
          <p:cNvSpPr>
            <a:spLocks xmlns:a="http://schemas.openxmlformats.org/drawingml/2006/main" noGrp="1"/>
          </p:cNvSpPr>
          <p:nvPr/>
        </p:nvSpPr>
        <p:spPr>
          <a:xfrm xmlns:a="http://schemas.openxmlformats.org/drawingml/2006/main">
            <a:off x="3038475" y="2781300"/>
            <a:ext cx="1562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Image + claim</a:t>
            </a:r>
          </a:p>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memory lookup</a:t>
            </a:r>
          </a:p>
        </p:txBody>
      </p:sp>
      <p:sp>
        <p:nvSpPr>
          <p:cNvPr id="12" name="">
            <a:extLst xmlns:a="http://schemas.openxmlformats.org/drawingml/2006/main">
              <a:ext uri="{FF2B5EF4-FFF2-40B4-BE49-F238E27FC236}">
                <a16:creationId xmlns:a16="http://schemas.microsoft.com/office/drawing/2014/main" id="{94EC053F-FA47-4B2B-A3D7-3F47FCD42167}"/>
              </a:ext>
            </a:extLst>
          </p:cNvPr>
          <p:cNvSpPr>
            <a:spLocks xmlns:a="http://schemas.openxmlformats.org/drawingml/2006/main" noGrp="1"/>
          </p:cNvSpPr>
          <p:nvPr/>
        </p:nvSpPr>
        <p:spPr>
          <a:xfrm xmlns:a="http://schemas.openxmlformats.org/drawingml/2006/main">
            <a:off x="4829175" y="2676525"/>
            <a:ext cx="333375" cy="171450"/>
          </a:xfrm>
          <a:prstGeom xmlns:a="http://schemas.openxmlformats.org/drawingml/2006/main" prst="rightArrow">
            <a:avLst/>
          </a:prstGeom>
          <a:solidFill xmlns:a="http://schemas.openxmlformats.org/drawingml/2006/main">
            <a:srgbClr val="BDCE8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CF5A790-690D-4A1A-BEB6-047F35CA3519}"/>
              </a:ext>
            </a:extLst>
          </p:cNvPr>
          <p:cNvSpPr>
            <a:spLocks xmlns:a="http://schemas.openxmlformats.org/drawingml/2006/main" noGrp="1"/>
          </p:cNvSpPr>
          <p:nvPr/>
        </p:nvSpPr>
        <p:spPr>
          <a:xfrm xmlns:a="http://schemas.openxmlformats.org/drawingml/2006/main">
            <a:off x="5238750" y="2238375"/>
            <a:ext cx="1866900" cy="1095375"/>
          </a:xfrm>
          <a:prstGeom xmlns:a="http://schemas.openxmlformats.org/drawingml/2006/main" prst="rect">
            <a:avLst/>
          </a:prstGeom>
          <a:solidFill xmlns:a="http://schemas.openxmlformats.org/drawingml/2006/main">
            <a:srgbClr val="29321F"/>
          </a:solidFill>
          <a:ln xmlns:a="http://schemas.openxmlformats.org/drawingml/2006/main" w="9525">
            <a:solidFill>
              <a:srgbClr val="7E9061"/>
            </a:solidFill>
          </a:ln>
        </p:spPr>
      </p:sp>
      <p:sp>
        <p:nvSpPr>
          <p:cNvPr id="14" name="">
            <a:extLst xmlns:a="http://schemas.openxmlformats.org/drawingml/2006/main">
              <a:ext uri="{FF2B5EF4-FFF2-40B4-BE49-F238E27FC236}">
                <a16:creationId xmlns:a16="http://schemas.microsoft.com/office/drawing/2014/main" id="{1F3E0DA7-A237-4DA2-9E96-2B308B43DDFC}"/>
              </a:ext>
            </a:extLst>
          </p:cNvPr>
          <p:cNvSpPr>
            <a:spLocks xmlns:a="http://schemas.openxmlformats.org/drawingml/2006/main" noGrp="1"/>
          </p:cNvSpPr>
          <p:nvPr/>
        </p:nvSpPr>
        <p:spPr>
          <a:xfrm xmlns:a="http://schemas.openxmlformats.org/drawingml/2006/main">
            <a:off x="5391150" y="2400300"/>
            <a:ext cx="1562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DF2E9"/>
                </a:solidFill>
                <a:latin typeface="Arial"/>
                <a:ea typeface="Arial"/>
                <a:cs typeface="Arial"/>
              </a:defRPr>
            </a:defPPr>
          </a:lstStyle>
          <a:p xmlns:a="http://schemas.openxmlformats.org/drawingml/2006/main">
            <a:pPr>
              <a:defRPr sz="1875" b="1">
                <a:solidFill>
                  <a:srgbClr val="EDF2E9"/>
                </a:solidFill>
                <a:latin typeface="Arial"/>
                <a:ea typeface="Arial"/>
                <a:cs typeface="Arial"/>
              </a:defRPr>
            </a:pPr>
            <a:r>
              <a:rPr sz="1875" b="1">
                <a:solidFill>
                  <a:srgbClr val="EDF2E9"/>
                </a:solidFill>
                <a:latin typeface="Arial"/>
                <a:ea typeface="Arial"/>
                <a:cs typeface="Arial"/>
              </a:rPr>
              <a:t>Research</a:t>
            </a:r>
          </a:p>
        </p:txBody>
      </p:sp>
      <p:sp>
        <p:nvSpPr>
          <p:cNvPr id="15" name="">
            <a:extLst xmlns:a="http://schemas.openxmlformats.org/drawingml/2006/main">
              <a:ext uri="{FF2B5EF4-FFF2-40B4-BE49-F238E27FC236}">
                <a16:creationId xmlns:a16="http://schemas.microsoft.com/office/drawing/2014/main" id="{C67E4C12-7552-4680-A929-03506CEDC276}"/>
              </a:ext>
            </a:extLst>
          </p:cNvPr>
          <p:cNvSpPr>
            <a:spLocks xmlns:a="http://schemas.openxmlformats.org/drawingml/2006/main" noGrp="1"/>
          </p:cNvSpPr>
          <p:nvPr/>
        </p:nvSpPr>
        <p:spPr>
          <a:xfrm xmlns:a="http://schemas.openxmlformats.org/drawingml/2006/main">
            <a:off x="5391150" y="2781300"/>
            <a:ext cx="1562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Fact-check API</a:t>
            </a:r>
          </a:p>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Web search</a:t>
            </a:r>
          </a:p>
        </p:txBody>
      </p:sp>
      <p:sp>
        <p:nvSpPr>
          <p:cNvPr id="16" name="">
            <a:extLst xmlns:a="http://schemas.openxmlformats.org/drawingml/2006/main">
              <a:ext uri="{FF2B5EF4-FFF2-40B4-BE49-F238E27FC236}">
                <a16:creationId xmlns:a16="http://schemas.microsoft.com/office/drawing/2014/main" id="{1546F22C-1F20-46D9-B1D5-563B941E134E}"/>
              </a:ext>
            </a:extLst>
          </p:cNvPr>
          <p:cNvSpPr>
            <a:spLocks xmlns:a="http://schemas.openxmlformats.org/drawingml/2006/main" noGrp="1"/>
          </p:cNvSpPr>
          <p:nvPr/>
        </p:nvSpPr>
        <p:spPr>
          <a:xfrm xmlns:a="http://schemas.openxmlformats.org/drawingml/2006/main">
            <a:off x="7181850" y="2676525"/>
            <a:ext cx="333375" cy="171450"/>
          </a:xfrm>
          <a:prstGeom xmlns:a="http://schemas.openxmlformats.org/drawingml/2006/main" prst="rightArrow">
            <a:avLst/>
          </a:prstGeom>
          <a:solidFill xmlns:a="http://schemas.openxmlformats.org/drawingml/2006/main">
            <a:srgbClr val="BDCE8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51F747-09B4-4945-94BA-41EEB1AF0BEB}"/>
              </a:ext>
            </a:extLst>
          </p:cNvPr>
          <p:cNvSpPr>
            <a:spLocks xmlns:a="http://schemas.openxmlformats.org/drawingml/2006/main" noGrp="1"/>
          </p:cNvSpPr>
          <p:nvPr/>
        </p:nvSpPr>
        <p:spPr>
          <a:xfrm xmlns:a="http://schemas.openxmlformats.org/drawingml/2006/main">
            <a:off x="7591425" y="2238375"/>
            <a:ext cx="1866900" cy="1095375"/>
          </a:xfrm>
          <a:prstGeom xmlns:a="http://schemas.openxmlformats.org/drawingml/2006/main" prst="rect">
            <a:avLst/>
          </a:prstGeom>
          <a:solidFill xmlns:a="http://schemas.openxmlformats.org/drawingml/2006/main">
            <a:srgbClr val="29321F"/>
          </a:solidFill>
          <a:ln xmlns:a="http://schemas.openxmlformats.org/drawingml/2006/main" w="9525">
            <a:solidFill>
              <a:srgbClr val="7E9061"/>
            </a:solidFill>
          </a:ln>
        </p:spPr>
      </p:sp>
      <p:sp>
        <p:nvSpPr>
          <p:cNvPr id="18" name="">
            <a:extLst xmlns:a="http://schemas.openxmlformats.org/drawingml/2006/main">
              <a:ext uri="{FF2B5EF4-FFF2-40B4-BE49-F238E27FC236}">
                <a16:creationId xmlns:a16="http://schemas.microsoft.com/office/drawing/2014/main" id="{59ABBA8E-80C8-405A-BC22-AEEF240EBC17}"/>
              </a:ext>
            </a:extLst>
          </p:cNvPr>
          <p:cNvSpPr>
            <a:spLocks xmlns:a="http://schemas.openxmlformats.org/drawingml/2006/main" noGrp="1"/>
          </p:cNvSpPr>
          <p:nvPr/>
        </p:nvSpPr>
        <p:spPr>
          <a:xfrm xmlns:a="http://schemas.openxmlformats.org/drawingml/2006/main">
            <a:off x="7743825" y="2400300"/>
            <a:ext cx="1562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DF2E9"/>
                </a:solidFill>
                <a:latin typeface="Arial"/>
                <a:ea typeface="Arial"/>
                <a:cs typeface="Arial"/>
              </a:defRPr>
            </a:defPPr>
          </a:lstStyle>
          <a:p xmlns:a="http://schemas.openxmlformats.org/drawingml/2006/main">
            <a:pPr>
              <a:defRPr sz="1875" b="1">
                <a:solidFill>
                  <a:srgbClr val="EDF2E9"/>
                </a:solidFill>
                <a:latin typeface="Arial"/>
                <a:ea typeface="Arial"/>
                <a:cs typeface="Arial"/>
              </a:defRPr>
            </a:pPr>
            <a:r>
              <a:rPr sz="1875" b="1">
                <a:solidFill>
                  <a:srgbClr val="EDF2E9"/>
                </a:solidFill>
                <a:latin typeface="Arial"/>
                <a:ea typeface="Arial"/>
                <a:cs typeface="Arial"/>
              </a:rPr>
              <a:t>Review</a:t>
            </a:r>
          </a:p>
        </p:txBody>
      </p:sp>
      <p:sp>
        <p:nvSpPr>
          <p:cNvPr id="19" name="">
            <a:extLst xmlns:a="http://schemas.openxmlformats.org/drawingml/2006/main">
              <a:ext uri="{FF2B5EF4-FFF2-40B4-BE49-F238E27FC236}">
                <a16:creationId xmlns:a16="http://schemas.microsoft.com/office/drawing/2014/main" id="{5F4E0E7D-B9B8-4C80-9DED-0E7F9BD51912}"/>
              </a:ext>
            </a:extLst>
          </p:cNvPr>
          <p:cNvSpPr>
            <a:spLocks xmlns:a="http://schemas.openxmlformats.org/drawingml/2006/main" noGrp="1"/>
          </p:cNvSpPr>
          <p:nvPr/>
        </p:nvSpPr>
        <p:spPr>
          <a:xfrm xmlns:a="http://schemas.openxmlformats.org/drawingml/2006/main">
            <a:off x="7743825" y="2781300"/>
            <a:ext cx="1562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Check sources</a:t>
            </a:r>
          </a:p>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 consistency</a:t>
            </a:r>
          </a:p>
        </p:txBody>
      </p:sp>
      <p:sp>
        <p:nvSpPr>
          <p:cNvPr id="20" name="">
            <a:extLst xmlns:a="http://schemas.openxmlformats.org/drawingml/2006/main">
              <a:ext uri="{FF2B5EF4-FFF2-40B4-BE49-F238E27FC236}">
                <a16:creationId xmlns:a16="http://schemas.microsoft.com/office/drawing/2014/main" id="{A23DBAA1-7C40-4772-BF64-0FADDF6D27FF}"/>
              </a:ext>
            </a:extLst>
          </p:cNvPr>
          <p:cNvSpPr>
            <a:spLocks xmlns:a="http://schemas.openxmlformats.org/drawingml/2006/main" noGrp="1"/>
          </p:cNvSpPr>
          <p:nvPr/>
        </p:nvSpPr>
        <p:spPr>
          <a:xfrm xmlns:a="http://schemas.openxmlformats.org/drawingml/2006/main">
            <a:off x="9534525" y="2676525"/>
            <a:ext cx="333375" cy="171450"/>
          </a:xfrm>
          <a:prstGeom xmlns:a="http://schemas.openxmlformats.org/drawingml/2006/main" prst="rightArrow">
            <a:avLst/>
          </a:prstGeom>
          <a:solidFill xmlns:a="http://schemas.openxmlformats.org/drawingml/2006/main">
            <a:srgbClr val="BDCE8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7CD122-9E01-4732-8108-2747A5A49590}"/>
              </a:ext>
            </a:extLst>
          </p:cNvPr>
          <p:cNvSpPr>
            <a:spLocks xmlns:a="http://schemas.openxmlformats.org/drawingml/2006/main" noGrp="1"/>
          </p:cNvSpPr>
          <p:nvPr/>
        </p:nvSpPr>
        <p:spPr>
          <a:xfrm xmlns:a="http://schemas.openxmlformats.org/drawingml/2006/main">
            <a:off x="9944100" y="2238375"/>
            <a:ext cx="1714500" cy="1095375"/>
          </a:xfrm>
          <a:prstGeom xmlns:a="http://schemas.openxmlformats.org/drawingml/2006/main" prst="rect">
            <a:avLst/>
          </a:prstGeom>
          <a:solidFill xmlns:a="http://schemas.openxmlformats.org/drawingml/2006/main">
            <a:srgbClr val="29321F"/>
          </a:solidFill>
          <a:ln xmlns:a="http://schemas.openxmlformats.org/drawingml/2006/main" w="9525">
            <a:solidFill>
              <a:srgbClr val="7E9061"/>
            </a:solidFill>
          </a:ln>
        </p:spPr>
      </p:sp>
      <p:sp>
        <p:nvSpPr>
          <p:cNvPr id="22" name="">
            <a:extLst xmlns:a="http://schemas.openxmlformats.org/drawingml/2006/main">
              <a:ext uri="{FF2B5EF4-FFF2-40B4-BE49-F238E27FC236}">
                <a16:creationId xmlns:a16="http://schemas.microsoft.com/office/drawing/2014/main" id="{4385E57C-56ED-4154-9D64-AB86FB997BB4}"/>
              </a:ext>
            </a:extLst>
          </p:cNvPr>
          <p:cNvSpPr>
            <a:spLocks xmlns:a="http://schemas.openxmlformats.org/drawingml/2006/main" noGrp="1"/>
          </p:cNvSpPr>
          <p:nvPr/>
        </p:nvSpPr>
        <p:spPr>
          <a:xfrm xmlns:a="http://schemas.openxmlformats.org/drawingml/2006/main">
            <a:off x="10096500" y="2400300"/>
            <a:ext cx="1409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DF2E9"/>
                </a:solidFill>
                <a:latin typeface="Arial"/>
                <a:ea typeface="Arial"/>
                <a:cs typeface="Arial"/>
              </a:defRPr>
            </a:defPPr>
          </a:lstStyle>
          <a:p xmlns:a="http://schemas.openxmlformats.org/drawingml/2006/main">
            <a:pPr>
              <a:defRPr sz="1875" b="1">
                <a:solidFill>
                  <a:srgbClr val="EDF2E9"/>
                </a:solidFill>
                <a:latin typeface="Arial"/>
                <a:ea typeface="Arial"/>
                <a:cs typeface="Arial"/>
              </a:defRPr>
            </a:pPr>
            <a:r>
              <a:rPr sz="1875" b="1">
                <a:solidFill>
                  <a:srgbClr val="EDF2E9"/>
                </a:solidFill>
                <a:latin typeface="Arial"/>
                <a:ea typeface="Arial"/>
                <a:cs typeface="Arial"/>
              </a:rPr>
              <a:t>Explain</a:t>
            </a:r>
          </a:p>
        </p:txBody>
      </p:sp>
      <p:sp>
        <p:nvSpPr>
          <p:cNvPr id="23" name="">
            <a:extLst xmlns:a="http://schemas.openxmlformats.org/drawingml/2006/main">
              <a:ext uri="{FF2B5EF4-FFF2-40B4-BE49-F238E27FC236}">
                <a16:creationId xmlns:a16="http://schemas.microsoft.com/office/drawing/2014/main" id="{09774E02-D2DD-410D-A343-5413D257F95D}"/>
              </a:ext>
            </a:extLst>
          </p:cNvPr>
          <p:cNvSpPr>
            <a:spLocks xmlns:a="http://schemas.openxmlformats.org/drawingml/2006/main" noGrp="1"/>
          </p:cNvSpPr>
          <p:nvPr/>
        </p:nvSpPr>
        <p:spPr>
          <a:xfrm xmlns:a="http://schemas.openxmlformats.org/drawingml/2006/main">
            <a:off x="10096500" y="2781300"/>
            <a:ext cx="1409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Verdicts</a:t>
            </a:r>
          </a:p>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Sources + cues</a:t>
            </a:r>
          </a:p>
        </p:txBody>
      </p:sp>
      <p:sp>
        <p:nvSpPr>
          <p:cNvPr id="24" name="">
            <a:extLst xmlns:a="http://schemas.openxmlformats.org/drawingml/2006/main">
              <a:ext uri="{FF2B5EF4-FFF2-40B4-BE49-F238E27FC236}">
                <a16:creationId xmlns:a16="http://schemas.microsoft.com/office/drawing/2014/main" id="{F12D3629-895E-4727-B2CA-F6441E8E208D}"/>
              </a:ext>
            </a:extLst>
          </p:cNvPr>
          <p:cNvSpPr>
            <a:spLocks xmlns:a="http://schemas.openxmlformats.org/drawingml/2006/main" noGrp="1"/>
          </p:cNvSpPr>
          <p:nvPr/>
        </p:nvSpPr>
        <p:spPr>
          <a:xfrm xmlns:a="http://schemas.openxmlformats.org/drawingml/2006/main">
            <a:off x="2886075" y="35814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DCE8E"/>
                </a:solidFill>
                <a:latin typeface="Arial"/>
                <a:ea typeface="Arial"/>
                <a:cs typeface="Arial"/>
              </a:defRPr>
            </a:defPPr>
          </a:lstStyle>
          <a:p xmlns:a="http://schemas.openxmlformats.org/drawingml/2006/main">
            <a:pPr>
              <a:defRPr sz="1650" b="1">
                <a:solidFill>
                  <a:srgbClr val="BDCE8E"/>
                </a:solidFill>
                <a:latin typeface="Arial"/>
                <a:ea typeface="Arial"/>
                <a:cs typeface="Arial"/>
              </a:defRPr>
            </a:pPr>
            <a:r>
              <a:rPr sz="1650" b="1">
                <a:solidFill>
                  <a:srgbClr val="BDCE8E"/>
                </a:solidFill>
                <a:latin typeface="Arial"/>
                <a:ea typeface="Arial"/>
                <a:cs typeface="Arial"/>
              </a:rPr>
              <a:t>Memory matches reuse prior verdicts</a:t>
            </a:r>
          </a:p>
        </p:txBody>
      </p:sp>
      <p:sp>
        <p:nvSpPr>
          <p:cNvPr id="25" name="">
            <a:extLst xmlns:a="http://schemas.openxmlformats.org/drawingml/2006/main">
              <a:ext uri="{FF2B5EF4-FFF2-40B4-BE49-F238E27FC236}">
                <a16:creationId xmlns:a16="http://schemas.microsoft.com/office/drawing/2014/main" id="{D0CEE013-0125-407B-8CEF-C36CAD1E983D}"/>
              </a:ext>
            </a:extLst>
          </p:cNvPr>
          <p:cNvSpPr>
            <a:spLocks xmlns:a="http://schemas.openxmlformats.org/drawingml/2006/main" noGrp="1"/>
          </p:cNvSpPr>
          <p:nvPr/>
        </p:nvSpPr>
        <p:spPr>
          <a:xfrm xmlns:a="http://schemas.openxmlformats.org/drawingml/2006/main">
            <a:off x="5238750" y="4133850"/>
            <a:ext cx="4219575" cy="1104900"/>
          </a:xfrm>
          <a:prstGeom xmlns:a="http://schemas.openxmlformats.org/drawingml/2006/main" prst="rect">
            <a:avLst/>
          </a:prstGeom>
          <a:solidFill xmlns:a="http://schemas.openxmlformats.org/drawingml/2006/main">
            <a:srgbClr val="29321F"/>
          </a:solidFill>
          <a:ln xmlns:a="http://schemas.openxmlformats.org/drawingml/2006/main" w="9525">
            <a:solidFill>
              <a:srgbClr val="7E9061"/>
            </a:solidFill>
          </a:ln>
        </p:spPr>
      </p:sp>
      <p:sp>
        <p:nvSpPr>
          <p:cNvPr id="26" name="">
            <a:extLst xmlns:a="http://schemas.openxmlformats.org/drawingml/2006/main">
              <a:ext uri="{FF2B5EF4-FFF2-40B4-BE49-F238E27FC236}">
                <a16:creationId xmlns:a16="http://schemas.microsoft.com/office/drawing/2014/main" id="{575DCC29-5B87-4A02-82A3-3E376B23EE00}"/>
              </a:ext>
            </a:extLst>
          </p:cNvPr>
          <p:cNvSpPr>
            <a:spLocks xmlns:a="http://schemas.openxmlformats.org/drawingml/2006/main" noGrp="1"/>
          </p:cNvSpPr>
          <p:nvPr/>
        </p:nvSpPr>
        <p:spPr>
          <a:xfrm xmlns:a="http://schemas.openxmlformats.org/drawingml/2006/main">
            <a:off x="5391150" y="4295775"/>
            <a:ext cx="3914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DF2E9"/>
                </a:solidFill>
                <a:latin typeface="Arial"/>
                <a:ea typeface="Arial"/>
                <a:cs typeface="Arial"/>
              </a:defRPr>
            </a:defPPr>
          </a:lstStyle>
          <a:p xmlns:a="http://schemas.openxmlformats.org/drawingml/2006/main">
            <a:pPr>
              <a:defRPr sz="1875" b="1">
                <a:solidFill>
                  <a:srgbClr val="EDF2E9"/>
                </a:solidFill>
                <a:latin typeface="Arial"/>
                <a:ea typeface="Arial"/>
                <a:cs typeface="Arial"/>
              </a:defRPr>
            </a:pPr>
            <a:r>
              <a:rPr sz="1875" b="1">
                <a:solidFill>
                  <a:srgbClr val="EDF2E9"/>
                </a:solidFill>
                <a:latin typeface="Arial"/>
                <a:ea typeface="Arial"/>
                <a:cs typeface="Arial"/>
              </a:rPr>
              <a:t>Origin signals</a:t>
            </a:r>
          </a:p>
        </p:txBody>
      </p:sp>
      <p:sp>
        <p:nvSpPr>
          <p:cNvPr id="27" name="">
            <a:extLst xmlns:a="http://schemas.openxmlformats.org/drawingml/2006/main">
              <a:ext uri="{FF2B5EF4-FFF2-40B4-BE49-F238E27FC236}">
                <a16:creationId xmlns:a16="http://schemas.microsoft.com/office/drawing/2014/main" id="{644822C9-031D-40E6-A081-FC2BF48C778D}"/>
              </a:ext>
            </a:extLst>
          </p:cNvPr>
          <p:cNvSpPr>
            <a:spLocks xmlns:a="http://schemas.openxmlformats.org/drawingml/2006/main" noGrp="1"/>
          </p:cNvSpPr>
          <p:nvPr/>
        </p:nvSpPr>
        <p:spPr>
          <a:xfrm xmlns:a="http://schemas.openxmlformats.org/drawingml/2006/main">
            <a:off x="5391150" y="4676775"/>
            <a:ext cx="3914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4BDA9"/>
                </a:solidFill>
                <a:latin typeface="Arial"/>
                <a:ea typeface="Arial"/>
                <a:cs typeface="Arial"/>
              </a:defRPr>
            </a:defPPr>
          </a:lstStyle>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Content Credentials</a:t>
            </a:r>
          </a:p>
          <a:p xmlns:a="http://schemas.openxmlformats.org/drawingml/2006/main">
            <a:pPr>
              <a:defRPr sz="1500" b="0">
                <a:solidFill>
                  <a:srgbClr val="B4BDA9"/>
                </a:solidFill>
                <a:latin typeface="Arial"/>
                <a:ea typeface="Arial"/>
                <a:cs typeface="Arial"/>
              </a:defRPr>
            </a:pPr>
            <a:r>
              <a:rPr sz="1500" b="0">
                <a:solidFill>
                  <a:srgbClr val="B4BDA9"/>
                </a:solidFill>
                <a:latin typeface="Arial"/>
                <a:ea typeface="Arial"/>
                <a:cs typeface="Arial"/>
              </a:rPr>
              <a:t>AI detector + reverse image search</a:t>
            </a:r>
          </a:p>
        </p:txBody>
      </p:sp>
      <p:sp>
        <p:nvSpPr>
          <p:cNvPr id="28" name="">
            <a:extLst xmlns:a="http://schemas.openxmlformats.org/drawingml/2006/main">
              <a:ext uri="{FF2B5EF4-FFF2-40B4-BE49-F238E27FC236}">
                <a16:creationId xmlns:a16="http://schemas.microsoft.com/office/drawing/2014/main" id="{6D60A0E7-3C8D-4CFD-97FC-855C505D8114}"/>
              </a:ext>
            </a:extLst>
          </p:cNvPr>
          <p:cNvSpPr>
            <a:spLocks xmlns:a="http://schemas.openxmlformats.org/drawingml/2006/main" noGrp="1"/>
          </p:cNvSpPr>
          <p:nvPr/>
        </p:nvSpPr>
        <p:spPr>
          <a:xfrm xmlns:a="http://schemas.openxmlformats.org/drawingml/2006/main">
            <a:off x="9553575" y="4591050"/>
            <a:ext cx="333375" cy="171450"/>
          </a:xfrm>
          <a:prstGeom xmlns:a="http://schemas.openxmlformats.org/drawingml/2006/main" prst="rightArrow">
            <a:avLst/>
          </a:prstGeom>
          <a:solidFill xmlns:a="http://schemas.openxmlformats.org/drawingml/2006/main">
            <a:srgbClr val="BDCE8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4564454-3DB4-4016-A5D0-4ECF2E5CF019}"/>
              </a:ext>
            </a:extLst>
          </p:cNvPr>
          <p:cNvSpPr>
            <a:spLocks xmlns:a="http://schemas.openxmlformats.org/drawingml/2006/main" noGrp="1"/>
          </p:cNvSpPr>
          <p:nvPr/>
        </p:nvSpPr>
        <p:spPr>
          <a:xfrm xmlns:a="http://schemas.openxmlformats.org/drawingml/2006/main">
            <a:off x="10048875" y="4448175"/>
            <a:ext cx="157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BDCE8E"/>
                </a:solidFill>
                <a:latin typeface="Arial"/>
                <a:ea typeface="Arial"/>
                <a:cs typeface="Arial"/>
              </a:defRPr>
            </a:defPPr>
          </a:lstStyle>
          <a:p xmlns:a="http://schemas.openxmlformats.org/drawingml/2006/main">
            <a:pPr>
              <a:defRPr sz="2100" b="1">
                <a:solidFill>
                  <a:srgbClr val="BDCE8E"/>
                </a:solidFill>
                <a:latin typeface="Arial"/>
                <a:ea typeface="Arial"/>
                <a:cs typeface="Arial"/>
              </a:defRPr>
            </a:pPr>
            <a:r>
              <a:rPr sz="2100" b="1">
                <a:solidFill>
                  <a:srgbClr val="BDCE8E"/>
                </a:solidFill>
                <a:latin typeface="Arial"/>
                <a:ea typeface="Arial"/>
                <a:cs typeface="Arial"/>
              </a:rPr>
              <a:t>Evidence</a:t>
            </a:r>
          </a:p>
          <a:p xmlns:a="http://schemas.openxmlformats.org/drawingml/2006/main">
            <a:pPr>
              <a:defRPr sz="2100" b="1">
                <a:solidFill>
                  <a:srgbClr val="BDCE8E"/>
                </a:solidFill>
                <a:latin typeface="Arial"/>
                <a:ea typeface="Arial"/>
                <a:cs typeface="Arial"/>
              </a:defRPr>
            </a:pPr>
            <a:r>
              <a:rPr sz="2100" b="1">
                <a:solidFill>
                  <a:srgbClr val="BDCE8E"/>
                </a:solidFill>
                <a:latin typeface="Arial"/>
                <a:ea typeface="Arial"/>
                <a:cs typeface="Arial"/>
              </a:rPr>
              <a:t>card</a:t>
            </a:r>
          </a:p>
        </p:txBody>
      </p:sp>
      <p:sp>
        <p:nvSpPr>
          <p:cNvPr id="30" name="">
            <a:extLst xmlns:a="http://schemas.openxmlformats.org/drawingml/2006/main">
              <a:ext uri="{FF2B5EF4-FFF2-40B4-BE49-F238E27FC236}">
                <a16:creationId xmlns:a16="http://schemas.microsoft.com/office/drawing/2014/main" id="{4E0B981D-BF12-4E2C-84FA-BEAB7D159ECA}"/>
              </a:ext>
            </a:extLst>
          </p:cNvPr>
          <p:cNvSpPr>
            <a:spLocks xmlns:a="http://schemas.openxmlformats.org/drawingml/2006/main" noGrp="1"/>
          </p:cNvSpPr>
          <p:nvPr/>
        </p:nvSpPr>
        <p:spPr>
          <a:xfrm xmlns:a="http://schemas.openxmlformats.org/drawingml/2006/main">
            <a:off x="5238750" y="5400675"/>
            <a:ext cx="4524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B4BDA9"/>
                </a:solidFill>
                <a:latin typeface="Arial"/>
                <a:ea typeface="Arial"/>
                <a:cs typeface="Arial"/>
              </a:defRPr>
            </a:defPPr>
          </a:lstStyle>
          <a:p xmlns:a="http://schemas.openxmlformats.org/drawingml/2006/main">
            <a:pPr>
              <a:defRPr sz="1650" b="0">
                <a:solidFill>
                  <a:srgbClr val="B4BDA9"/>
                </a:solidFill>
                <a:latin typeface="Arial"/>
                <a:ea typeface="Arial"/>
                <a:cs typeface="Arial"/>
              </a:defRPr>
            </a:pPr>
            <a:r>
              <a:rPr sz="1650" b="0">
                <a:solidFill>
                  <a:srgbClr val="B4BDA9"/>
                </a:solidFill>
                <a:latin typeface="Arial"/>
                <a:ea typeface="Arial"/>
                <a:cs typeface="Arial"/>
              </a:rPr>
              <a:t>Runs alongside claim research</a:t>
            </a:r>
          </a:p>
        </p:txBody>
      </p:sp>
      <p:sp>
        <p:nvSpPr>
          <p:cNvPr id="31" name="">
            <a:extLst xmlns:a="http://schemas.openxmlformats.org/drawingml/2006/main">
              <a:ext uri="{FF2B5EF4-FFF2-40B4-BE49-F238E27FC236}">
                <a16:creationId xmlns:a16="http://schemas.microsoft.com/office/drawing/2014/main" id="{45C40181-F12F-4E3C-BBE8-EFD58513FE0A}"/>
              </a:ext>
            </a:extLst>
          </p:cNvPr>
          <p:cNvSpPr>
            <a:spLocks xmlns:a="http://schemas.openxmlformats.org/drawingml/2006/main" noGrp="1"/>
          </p:cNvSpPr>
          <p:nvPr/>
        </p:nvSpPr>
        <p:spPr>
          <a:xfrm xmlns:a="http://schemas.openxmlformats.org/drawingml/2006/main">
            <a:off x="533400" y="433387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BDCE8E"/>
                </a:solidFill>
                <a:latin typeface="Arial"/>
                <a:ea typeface="Arial"/>
                <a:cs typeface="Arial"/>
              </a:defRPr>
            </a:defPPr>
          </a:lstStyle>
          <a:p xmlns:a="http://schemas.openxmlformats.org/drawingml/2006/main">
            <a:pPr>
              <a:defRPr sz="2325" b="1">
                <a:solidFill>
                  <a:srgbClr val="BDCE8E"/>
                </a:solidFill>
                <a:latin typeface="Arial"/>
                <a:ea typeface="Arial"/>
                <a:cs typeface="Arial"/>
              </a:defRPr>
            </a:pPr>
            <a:r>
              <a:rPr sz="2325" b="1">
                <a:solidFill>
                  <a:srgbClr val="BDCE8E"/>
                </a:solidFill>
                <a:latin typeface="Arial"/>
                <a:ea typeface="Arial"/>
                <a:cs typeface="Arial"/>
              </a:rPr>
              <a:t>Fast paths</a:t>
            </a:r>
          </a:p>
        </p:txBody>
      </p:sp>
      <p:sp>
        <p:nvSpPr>
          <p:cNvPr id="32" name="">
            <a:extLst xmlns:a="http://schemas.openxmlformats.org/drawingml/2006/main">
              <a:ext uri="{FF2B5EF4-FFF2-40B4-BE49-F238E27FC236}">
                <a16:creationId xmlns:a16="http://schemas.microsoft.com/office/drawing/2014/main" id="{ED65381F-5480-41A7-B095-3270AC02682A}"/>
              </a:ext>
            </a:extLst>
          </p:cNvPr>
          <p:cNvSpPr>
            <a:spLocks xmlns:a="http://schemas.openxmlformats.org/drawingml/2006/main" noGrp="1"/>
          </p:cNvSpPr>
          <p:nvPr/>
        </p:nvSpPr>
        <p:spPr>
          <a:xfrm xmlns:a="http://schemas.openxmlformats.org/drawingml/2006/main">
            <a:off x="533400" y="4876800"/>
            <a:ext cx="4238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EDF2E9"/>
                </a:solidFill>
                <a:latin typeface="Arial"/>
                <a:ea typeface="Arial"/>
                <a:cs typeface="Arial"/>
              </a:defRPr>
            </a:defPPr>
          </a:lstStyle>
          <a:p xmlns:a="http://schemas.openxmlformats.org/drawingml/2006/main">
            <a:pPr>
              <a:defRPr sz="1875" b="0">
                <a:solidFill>
                  <a:srgbClr val="EDF2E9"/>
                </a:solidFill>
                <a:latin typeface="Arial"/>
                <a:ea typeface="Arial"/>
                <a:cs typeface="Arial"/>
              </a:defRPr>
            </a:pPr>
            <a:r>
              <a:rPr sz="1875" b="0">
                <a:solidFill>
                  <a:srgbClr val="EDF2E9"/>
                </a:solidFill>
                <a:latin typeface="Arial"/>
                <a:ea typeface="Arial"/>
                <a:cs typeface="Arial"/>
              </a:rPr>
              <a:t>Reuse known checks.</a:t>
            </a:r>
          </a:p>
          <a:p xmlns:a="http://schemas.openxmlformats.org/drawingml/2006/main">
            <a:pPr>
              <a:defRPr sz="1875" b="0">
                <a:solidFill>
                  <a:srgbClr val="EDF2E9"/>
                </a:solidFill>
                <a:latin typeface="Arial"/>
                <a:ea typeface="Arial"/>
                <a:cs typeface="Arial"/>
              </a:defRPr>
            </a:pPr>
            <a:r>
              <a:rPr sz="1875" b="0">
                <a:solidFill>
                  <a:srgbClr val="EDF2E9"/>
                </a:solidFill>
                <a:latin typeface="Arial"/>
                <a:ea typeface="Arial"/>
                <a:cs typeface="Arial"/>
              </a:rPr>
              <a:t>Research claims in parallel.</a:t>
            </a:r>
          </a:p>
          <a:p xmlns:a="http://schemas.openxmlformats.org/drawingml/2006/main">
            <a:pPr>
              <a:defRPr sz="1875" b="0">
                <a:solidFill>
                  <a:srgbClr val="EDF2E9"/>
                </a:solidFill>
                <a:latin typeface="Arial"/>
                <a:ea typeface="Arial"/>
                <a:cs typeface="Arial"/>
              </a:defRPr>
            </a:pPr>
            <a:r>
              <a:rPr sz="1875" b="0">
                <a:solidFill>
                  <a:srgbClr val="EDF2E9"/>
                </a:solidFill>
                <a:latin typeface="Arial"/>
                <a:ea typeface="Arial"/>
                <a:cs typeface="Arial"/>
              </a:rPr>
              <a:t>Save results for the next post.</a:t>
            </a:r>
          </a:p>
        </p:txBody>
      </p:sp>
      <p:sp>
        <p:nvSpPr>
          <p:cNvPr id="33" name="">
            <a:extLst xmlns:a="http://schemas.openxmlformats.org/drawingml/2006/main">
              <a:ext uri="{FF2B5EF4-FFF2-40B4-BE49-F238E27FC236}">
                <a16:creationId xmlns:a16="http://schemas.microsoft.com/office/drawing/2014/main" id="{D5266576-8AE3-4087-A8E2-D185D61B446F}"/>
              </a:ext>
            </a:extLst>
          </p:cNvPr>
          <p:cNvSpPr>
            <a:spLocks xmlns:a="http://schemas.openxmlformats.org/drawingml/2006/main" noGrp="1"/>
          </p:cNvSpPr>
          <p:nvPr/>
        </p:nvSpPr>
        <p:spPr>
          <a:xfrm xmlns:a="http://schemas.openxmlformats.org/drawingml/2006/main">
            <a:off x="533400" y="63436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B4BDA9"/>
                </a:solidFill>
                <a:latin typeface="Arial"/>
                <a:ea typeface="Arial"/>
                <a:cs typeface="Arial"/>
              </a:defRPr>
            </a:defPPr>
          </a:lstStyle>
          <a:p xmlns:a="http://schemas.openxmlformats.org/drawingml/2006/main">
            <a:pPr>
              <a:defRPr sz="1575" b="0">
                <a:solidFill>
                  <a:srgbClr val="B4BDA9"/>
                </a:solidFill>
                <a:latin typeface="Arial"/>
                <a:ea typeface="Arial"/>
                <a:cs typeface="Arial"/>
              </a:defRPr>
            </a:pPr>
            <a:r>
              <a:rPr sz="1575" b="0">
                <a:solidFill>
                  <a:srgbClr val="B4BDA9"/>
                </a:solidFill>
                <a:latin typeface="Arial"/>
                <a:ea typeface="Arial"/>
                <a:cs typeface="Arial"/>
              </a:rPr>
              <a:t>Origin signals express uncertainty. “Not enough evidence” is a valid result.</a:t>
            </a:r>
          </a:p>
        </p:txBody>
      </p:sp>
    </p:spTree>
    <p:extLst>
      <p:ext uri="{BB962C8B-B14F-4D97-AF65-F5344CB8AC3E}">
        <p14:creationId xmlns:p14="http://schemas.microsoft.com/office/powerpoint/2010/main" val="1706726953"/>
      </p:ext>
    </p:extLst>
  </p:cSld>
</p:sld>
</file>

<file path=ppt/slides/slide4.xml><?xml version="1.0" encoding="utf-8"?>
<p:sld xmlns:p="http://schemas.openxmlformats.org/presentationml/2006/main">
  <p:cSld>
    <p:bg>
      <p:bgPr>
        <a:solidFill xmlns:a="http://schemas.openxmlformats.org/drawingml/2006/main">
          <a:srgbClr val="191D1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C83D5EA-C360-48CE-A556-31CDD302CE8E}"/>
              </a:ext>
            </a:extLst>
          </p:cNvPr>
          <p:cNvSpPr>
            <a:spLocks xmlns:a="http://schemas.openxmlformats.org/drawingml/2006/main" noGrp="1"/>
          </p:cNvSpPr>
          <p:nvPr/>
        </p:nvSpPr>
        <p:spPr>
          <a:xfrm xmlns:a="http://schemas.openxmlformats.org/drawingml/2006/main">
            <a:off x="533400" y="26670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DCE8E"/>
                </a:solidFill>
                <a:latin typeface="Arial"/>
                <a:ea typeface="Arial"/>
                <a:cs typeface="Arial"/>
              </a:defRPr>
            </a:defPPr>
          </a:lstStyle>
          <a:p xmlns:a="http://schemas.openxmlformats.org/drawingml/2006/main">
            <a:pPr>
              <a:defRPr sz="1275" b="1">
                <a:solidFill>
                  <a:srgbClr val="BDCE8E"/>
                </a:solidFill>
                <a:latin typeface="Arial"/>
                <a:ea typeface="Arial"/>
                <a:cs typeface="Arial"/>
              </a:defRPr>
            </a:pPr>
            <a:r>
              <a:rPr sz="1275" b="1">
                <a:solidFill>
                  <a:srgbClr val="BDCE8E"/>
                </a:solidFill>
                <a:latin typeface="Arial"/>
                <a:ea typeface="Arial"/>
                <a:cs typeface="Arial"/>
              </a:rPr>
              <a:t>LUMINATE</a:t>
            </a:r>
          </a:p>
        </p:txBody>
      </p:sp>
      <p:sp>
        <p:nvSpPr>
          <p:cNvPr id="2" name="">
            <a:extLst xmlns:a="http://schemas.openxmlformats.org/drawingml/2006/main">
              <a:ext uri="{FF2B5EF4-FFF2-40B4-BE49-F238E27FC236}">
                <a16:creationId xmlns:a16="http://schemas.microsoft.com/office/drawing/2014/main" id="{DC7295DD-F8AF-4AA9-942F-6A56D1A80BFE}"/>
              </a:ext>
            </a:extLst>
          </p:cNvPr>
          <p:cNvSpPr>
            <a:spLocks xmlns:a="http://schemas.openxmlformats.org/drawingml/2006/main" noGrp="1"/>
          </p:cNvSpPr>
          <p:nvPr/>
        </p:nvSpPr>
        <p:spPr>
          <a:xfrm xmlns:a="http://schemas.openxmlformats.org/drawingml/2006/main">
            <a:off x="1114425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4BDA9"/>
                </a:solidFill>
                <a:latin typeface="Arial"/>
                <a:ea typeface="Arial"/>
                <a:cs typeface="Arial"/>
              </a:defRPr>
            </a:defPPr>
          </a:lstStyle>
          <a:p xmlns:a="http://schemas.openxmlformats.org/drawingml/2006/main">
            <a:pPr>
              <a:defRPr sz="1275" b="0">
                <a:solidFill>
                  <a:srgbClr val="B4BDA9"/>
                </a:solidFill>
                <a:latin typeface="Arial"/>
                <a:ea typeface="Arial"/>
                <a:cs typeface="Arial"/>
              </a:defRPr>
            </a:pPr>
            <a:r>
              <a:rPr sz="1275" b="0">
                <a:solidFill>
                  <a:srgbClr val="B4BDA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F00839F-FC3B-4E1E-BC28-63E6620F564E}"/>
              </a:ext>
            </a:extLst>
          </p:cNvPr>
          <p:cNvSpPr>
            <a:spLocks xmlns:a="http://schemas.openxmlformats.org/drawingml/2006/main" noGrp="1"/>
          </p:cNvSpPr>
          <p:nvPr/>
        </p:nvSpPr>
        <p:spPr>
          <a:xfrm xmlns:a="http://schemas.openxmlformats.org/drawingml/2006/main">
            <a:off x="533400" y="790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EDF2E9"/>
                </a:solidFill>
                <a:latin typeface="Arial"/>
                <a:ea typeface="Arial"/>
                <a:cs typeface="Arial"/>
              </a:defRPr>
            </a:defPPr>
          </a:lstStyle>
          <a:p xmlns:a="http://schemas.openxmlformats.org/drawingml/2006/main">
            <a:pPr>
              <a:defRPr sz="3225" b="1">
                <a:solidFill>
                  <a:srgbClr val="EDF2E9"/>
                </a:solidFill>
                <a:latin typeface="Arial"/>
                <a:ea typeface="Arial"/>
                <a:cs typeface="Arial"/>
              </a:defRPr>
            </a:pPr>
            <a:r>
              <a:rPr sz="3225" b="1">
                <a:solidFill>
                  <a:srgbClr val="EDF2E9"/>
                </a:solidFill>
                <a:latin typeface="Arial"/>
                <a:ea typeface="Arial"/>
                <a:cs typeface="Arial"/>
              </a:rPr>
              <a:t>Next: Luminate wherever posts travel</a:t>
            </a:r>
          </a:p>
        </p:txBody>
      </p:sp>
      <p:sp>
        <p:nvSpPr>
          <p:cNvPr id="4" name="">
            <a:extLst xmlns:a="http://schemas.openxmlformats.org/drawingml/2006/main">
              <a:ext uri="{FF2B5EF4-FFF2-40B4-BE49-F238E27FC236}">
                <a16:creationId xmlns:a16="http://schemas.microsoft.com/office/drawing/2014/main" id="{DA5EF018-E209-40F3-BDB5-CF93F4E00437}"/>
              </a:ext>
            </a:extLst>
          </p:cNvPr>
          <p:cNvSpPr>
            <a:spLocks xmlns:a="http://schemas.openxmlformats.org/drawingml/2006/main" noGrp="1"/>
          </p:cNvSpPr>
          <p:nvPr/>
        </p:nvSpPr>
        <p:spPr>
          <a:xfrm xmlns:a="http://schemas.openxmlformats.org/drawingml/2006/main">
            <a:off x="533400" y="2047875"/>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DCE8E"/>
                </a:solidFill>
                <a:latin typeface="Arial"/>
                <a:ea typeface="Arial"/>
                <a:cs typeface="Arial"/>
              </a:defRPr>
            </a:defPPr>
          </a:lstStyle>
          <a:p xmlns:a="http://schemas.openxmlformats.org/drawingml/2006/main">
            <a:pPr>
              <a:defRPr sz="3300" b="1">
                <a:solidFill>
                  <a:srgbClr val="BDCE8E"/>
                </a:solidFill>
                <a:latin typeface="Arial"/>
                <a:ea typeface="Arial"/>
                <a:cs typeface="Arial"/>
              </a:defRPr>
            </a:pPr>
            <a:r>
              <a:rPr sz="3300" b="1">
                <a:solidFill>
                  <a:srgbClr val="BDCE8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58A00DF-1DB4-4A56-8412-2C4AE2F92EFA}"/>
              </a:ext>
            </a:extLst>
          </p:cNvPr>
          <p:cNvSpPr>
            <a:spLocks xmlns:a="http://schemas.openxmlformats.org/drawingml/2006/main" noGrp="1"/>
          </p:cNvSpPr>
          <p:nvPr/>
        </p:nvSpPr>
        <p:spPr>
          <a:xfrm xmlns:a="http://schemas.openxmlformats.org/drawingml/2006/main">
            <a:off x="1409700" y="20478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EDF2E9"/>
                </a:solidFill>
                <a:latin typeface="Arial"/>
                <a:ea typeface="Arial"/>
                <a:cs typeface="Arial"/>
              </a:defRPr>
            </a:defPPr>
          </a:lstStyle>
          <a:p xmlns:a="http://schemas.openxmlformats.org/drawingml/2006/main">
            <a:pPr>
              <a:defRPr sz="2325" b="1">
                <a:solidFill>
                  <a:srgbClr val="EDF2E9"/>
                </a:solidFill>
                <a:latin typeface="Arial"/>
                <a:ea typeface="Arial"/>
                <a:cs typeface="Arial"/>
              </a:defRPr>
            </a:pPr>
            <a:r>
              <a:rPr sz="2325" b="1">
                <a:solidFill>
                  <a:srgbClr val="EDF2E9"/>
                </a:solidFill>
                <a:latin typeface="Arial"/>
                <a:ea typeface="Arial"/>
                <a:cs typeface="Arial"/>
              </a:rPr>
              <a:t>Mobile checking</a:t>
            </a:r>
          </a:p>
        </p:txBody>
      </p:sp>
      <p:sp>
        <p:nvSpPr>
          <p:cNvPr id="6" name="">
            <a:extLst xmlns:a="http://schemas.openxmlformats.org/drawingml/2006/main">
              <a:ext uri="{FF2B5EF4-FFF2-40B4-BE49-F238E27FC236}">
                <a16:creationId xmlns:a16="http://schemas.microsoft.com/office/drawing/2014/main" id="{3FCA6D99-6AC2-4158-9999-BA6D75C7F2B6}"/>
              </a:ext>
            </a:extLst>
          </p:cNvPr>
          <p:cNvSpPr>
            <a:spLocks xmlns:a="http://schemas.openxmlformats.org/drawingml/2006/main" noGrp="1"/>
          </p:cNvSpPr>
          <p:nvPr/>
        </p:nvSpPr>
        <p:spPr>
          <a:xfrm xmlns:a="http://schemas.openxmlformats.org/drawingml/2006/main">
            <a:off x="1409700" y="2581275"/>
            <a:ext cx="542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BDA9"/>
                </a:solidFill>
                <a:latin typeface="Arial"/>
                <a:ea typeface="Arial"/>
                <a:cs typeface="Arial"/>
              </a:defRPr>
            </a:defPPr>
          </a:lstStyle>
          <a:p xmlns:a="http://schemas.openxmlformats.org/drawingml/2006/main">
            <a:pPr>
              <a:defRPr sz="1875" b="0">
                <a:solidFill>
                  <a:srgbClr val="B4BDA9"/>
                </a:solidFill>
                <a:latin typeface="Arial"/>
                <a:ea typeface="Arial"/>
                <a:cs typeface="Arial"/>
              </a:defRPr>
            </a:pPr>
            <a:r>
              <a:rPr sz="1875" b="0">
                <a:solidFill>
                  <a:srgbClr val="B4BDA9"/>
                </a:solidFill>
                <a:latin typeface="Arial"/>
                <a:ea typeface="Arial"/>
                <a:cs typeface="Arial"/>
              </a:rPr>
              <a:t>Save or share a post to a standalone app.</a:t>
            </a:r>
          </a:p>
        </p:txBody>
      </p:sp>
      <p:sp>
        <p:nvSpPr>
          <p:cNvPr id="7" name="">
            <a:extLst xmlns:a="http://schemas.openxmlformats.org/drawingml/2006/main">
              <a:ext uri="{FF2B5EF4-FFF2-40B4-BE49-F238E27FC236}">
                <a16:creationId xmlns:a16="http://schemas.microsoft.com/office/drawing/2014/main" id="{5911F1BE-C18D-425C-839C-B12840374AC9}"/>
              </a:ext>
            </a:extLst>
          </p:cNvPr>
          <p:cNvSpPr>
            <a:spLocks xmlns:a="http://schemas.openxmlformats.org/drawingml/2006/main" noGrp="1"/>
          </p:cNvSpPr>
          <p:nvPr/>
        </p:nvSpPr>
        <p:spPr>
          <a:xfrm xmlns:a="http://schemas.openxmlformats.org/drawingml/2006/main">
            <a:off x="533400" y="3419475"/>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DCE8E"/>
                </a:solidFill>
                <a:latin typeface="Arial"/>
                <a:ea typeface="Arial"/>
                <a:cs typeface="Arial"/>
              </a:defRPr>
            </a:defPPr>
          </a:lstStyle>
          <a:p xmlns:a="http://schemas.openxmlformats.org/drawingml/2006/main">
            <a:pPr>
              <a:defRPr sz="3300" b="1">
                <a:solidFill>
                  <a:srgbClr val="BDCE8E"/>
                </a:solidFill>
                <a:latin typeface="Arial"/>
                <a:ea typeface="Arial"/>
                <a:cs typeface="Arial"/>
              </a:defRPr>
            </a:pPr>
            <a:r>
              <a:rPr sz="3300" b="1">
                <a:solidFill>
                  <a:srgbClr val="BDCE8E"/>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EA363A2-DCD3-4E2D-9E48-F7F2EAE89356}"/>
              </a:ext>
            </a:extLst>
          </p:cNvPr>
          <p:cNvSpPr>
            <a:spLocks xmlns:a="http://schemas.openxmlformats.org/drawingml/2006/main" noGrp="1"/>
          </p:cNvSpPr>
          <p:nvPr/>
        </p:nvSpPr>
        <p:spPr>
          <a:xfrm xmlns:a="http://schemas.openxmlformats.org/drawingml/2006/main">
            <a:off x="1409700" y="34194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EDF2E9"/>
                </a:solidFill>
                <a:latin typeface="Arial"/>
                <a:ea typeface="Arial"/>
                <a:cs typeface="Arial"/>
              </a:defRPr>
            </a:defPPr>
          </a:lstStyle>
          <a:p xmlns:a="http://schemas.openxmlformats.org/drawingml/2006/main">
            <a:pPr>
              <a:defRPr sz="2325" b="1">
                <a:solidFill>
                  <a:srgbClr val="EDF2E9"/>
                </a:solidFill>
                <a:latin typeface="Arial"/>
                <a:ea typeface="Arial"/>
                <a:cs typeface="Arial"/>
              </a:defRPr>
            </a:pPr>
            <a:r>
              <a:rPr sz="2325" b="1">
                <a:solidFill>
                  <a:srgbClr val="EDF2E9"/>
                </a:solidFill>
                <a:latin typeface="Arial"/>
                <a:ea typeface="Arial"/>
                <a:cs typeface="Arial"/>
              </a:rPr>
              <a:t>Public-service bots</a:t>
            </a:r>
          </a:p>
        </p:txBody>
      </p:sp>
      <p:sp>
        <p:nvSpPr>
          <p:cNvPr id="9" name="">
            <a:extLst xmlns:a="http://schemas.openxmlformats.org/drawingml/2006/main">
              <a:ext uri="{FF2B5EF4-FFF2-40B4-BE49-F238E27FC236}">
                <a16:creationId xmlns:a16="http://schemas.microsoft.com/office/drawing/2014/main" id="{8C8A0541-CB39-4957-AF11-BA8C204D5BA4}"/>
              </a:ext>
            </a:extLst>
          </p:cNvPr>
          <p:cNvSpPr>
            <a:spLocks xmlns:a="http://schemas.openxmlformats.org/drawingml/2006/main" noGrp="1"/>
          </p:cNvSpPr>
          <p:nvPr/>
        </p:nvSpPr>
        <p:spPr>
          <a:xfrm xmlns:a="http://schemas.openxmlformats.org/drawingml/2006/main">
            <a:off x="1409700" y="3952875"/>
            <a:ext cx="542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BDA9"/>
                </a:solidFill>
                <a:latin typeface="Arial"/>
                <a:ea typeface="Arial"/>
                <a:cs typeface="Arial"/>
              </a:defRPr>
            </a:defPPr>
          </a:lstStyle>
          <a:p xmlns:a="http://schemas.openxmlformats.org/drawingml/2006/main">
            <a:pPr>
              <a:defRPr sz="1875" b="0">
                <a:solidFill>
                  <a:srgbClr val="B4BDA9"/>
                </a:solidFill>
                <a:latin typeface="Arial"/>
                <a:ea typeface="Arial"/>
                <a:cs typeface="Arial"/>
              </a:defRPr>
            </a:pPr>
            <a:r>
              <a:rPr sz="1875" b="0">
                <a:solidFill>
                  <a:srgbClr val="B4BDA9"/>
                </a:solidFill>
                <a:latin typeface="Arial"/>
                <a:ea typeface="Arial"/>
                <a:cs typeface="Arial"/>
              </a:rPr>
              <a:t>Bring evidence to high-attention posts on X and Reddit.</a:t>
            </a:r>
          </a:p>
        </p:txBody>
      </p:sp>
      <p:sp>
        <p:nvSpPr>
          <p:cNvPr id="10" name="">
            <a:extLst xmlns:a="http://schemas.openxmlformats.org/drawingml/2006/main">
              <a:ext uri="{FF2B5EF4-FFF2-40B4-BE49-F238E27FC236}">
                <a16:creationId xmlns:a16="http://schemas.microsoft.com/office/drawing/2014/main" id="{C6853E8E-8866-4282-9E68-0783AA3BEB3D}"/>
              </a:ext>
            </a:extLst>
          </p:cNvPr>
          <p:cNvSpPr>
            <a:spLocks xmlns:a="http://schemas.openxmlformats.org/drawingml/2006/main" noGrp="1"/>
          </p:cNvSpPr>
          <p:nvPr/>
        </p:nvSpPr>
        <p:spPr>
          <a:xfrm xmlns:a="http://schemas.openxmlformats.org/drawingml/2006/main">
            <a:off x="533400" y="4791075"/>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DCE8E"/>
                </a:solidFill>
                <a:latin typeface="Arial"/>
                <a:ea typeface="Arial"/>
                <a:cs typeface="Arial"/>
              </a:defRPr>
            </a:defPPr>
          </a:lstStyle>
          <a:p xmlns:a="http://schemas.openxmlformats.org/drawingml/2006/main">
            <a:pPr>
              <a:defRPr sz="3300" b="1">
                <a:solidFill>
                  <a:srgbClr val="BDCE8E"/>
                </a:solidFill>
                <a:latin typeface="Arial"/>
                <a:ea typeface="Arial"/>
                <a:cs typeface="Arial"/>
              </a:defRPr>
            </a:pPr>
            <a:r>
              <a:rPr sz="3300" b="1">
                <a:solidFill>
                  <a:srgbClr val="BDCE8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F2D00BB-BDA7-4905-A3BA-F767328B2446}"/>
              </a:ext>
            </a:extLst>
          </p:cNvPr>
          <p:cNvSpPr>
            <a:spLocks xmlns:a="http://schemas.openxmlformats.org/drawingml/2006/main" noGrp="1"/>
          </p:cNvSpPr>
          <p:nvPr/>
        </p:nvSpPr>
        <p:spPr>
          <a:xfrm xmlns:a="http://schemas.openxmlformats.org/drawingml/2006/main">
            <a:off x="1409700" y="47910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EDF2E9"/>
                </a:solidFill>
                <a:latin typeface="Arial"/>
                <a:ea typeface="Arial"/>
                <a:cs typeface="Arial"/>
              </a:defRPr>
            </a:defPPr>
          </a:lstStyle>
          <a:p xmlns:a="http://schemas.openxmlformats.org/drawingml/2006/main">
            <a:pPr>
              <a:defRPr sz="2325" b="1">
                <a:solidFill>
                  <a:srgbClr val="EDF2E9"/>
                </a:solidFill>
                <a:latin typeface="Arial"/>
                <a:ea typeface="Arial"/>
                <a:cs typeface="Arial"/>
              </a:defRPr>
            </a:pPr>
            <a:r>
              <a:rPr sz="2325" b="1">
                <a:solidFill>
                  <a:srgbClr val="EDF2E9"/>
                </a:solidFill>
                <a:latin typeface="Arial"/>
                <a:ea typeface="Arial"/>
                <a:cs typeface="Arial"/>
              </a:rPr>
              <a:t>Better model choices</a:t>
            </a:r>
          </a:p>
        </p:txBody>
      </p:sp>
      <p:sp>
        <p:nvSpPr>
          <p:cNvPr id="12" name="">
            <a:extLst xmlns:a="http://schemas.openxmlformats.org/drawingml/2006/main">
              <a:ext uri="{FF2B5EF4-FFF2-40B4-BE49-F238E27FC236}">
                <a16:creationId xmlns:a16="http://schemas.microsoft.com/office/drawing/2014/main" id="{17A1C930-A7A0-4A47-9370-7E82CD2CAF5E}"/>
              </a:ext>
            </a:extLst>
          </p:cNvPr>
          <p:cNvSpPr>
            <a:spLocks xmlns:a="http://schemas.openxmlformats.org/drawingml/2006/main" noGrp="1"/>
          </p:cNvSpPr>
          <p:nvPr/>
        </p:nvSpPr>
        <p:spPr>
          <a:xfrm xmlns:a="http://schemas.openxmlformats.org/drawingml/2006/main">
            <a:off x="1409700" y="5324475"/>
            <a:ext cx="542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BDA9"/>
                </a:solidFill>
                <a:latin typeface="Arial"/>
                <a:ea typeface="Arial"/>
                <a:cs typeface="Arial"/>
              </a:defRPr>
            </a:defPPr>
          </a:lstStyle>
          <a:p xmlns:a="http://schemas.openxmlformats.org/drawingml/2006/main">
            <a:pPr>
              <a:defRPr sz="1875" b="0">
                <a:solidFill>
                  <a:srgbClr val="B4BDA9"/>
                </a:solidFill>
                <a:latin typeface="Arial"/>
                <a:ea typeface="Arial"/>
                <a:cs typeface="Arial"/>
              </a:defRPr>
            </a:pPr>
            <a:r>
              <a:rPr sz="1875" b="0">
                <a:solidFill>
                  <a:srgbClr val="B4BDA9"/>
                </a:solidFill>
                <a:latin typeface="Arial"/>
                <a:ea typeface="Arial"/>
                <a:cs typeface="Arial"/>
              </a:rPr>
              <a:t>Test accuracy and speed across a wider model set.</a:t>
            </a:r>
          </a:p>
        </p:txBody>
      </p:sp>
      <p:pic>
        <p:nvPicPr>
          <p:cNvPr id="13" name="">
            <a:extLst xmlns:a="http://schemas.openxmlformats.org/drawingml/2006/main">
              <a:ext uri="{FF2B5EF4-FFF2-40B4-BE49-F238E27FC236}">
                <a16:creationId xmlns:a16="http://schemas.microsoft.com/office/drawing/2014/main" id="{C0AE45C6-ACC9-43F1-801C-250FCB671EDD}"/>
              </a:ext>
            </a:extLst>
          </p:cNvPr>
          <p:cNvPicPr>
            <a:picLocks xmlns:a="http://schemas.openxmlformats.org/drawingml/2006/main" noChangeAspect="1"/>
          </p:cNvPicPr>
          <p:nvPr/>
        </p:nvPicPr>
        <p:blipFill>
          <a:blip xmlns:r="http://schemas.openxmlformats.org/officeDocument/2006/relationships" xmlns:a="http://schemas.openxmlformats.org/drawingml/2006/main" r:embed="Rb61e7df2512e4360"/>
          <a:srcRect xmlns:a="http://schemas.openxmlformats.org/drawingml/2006/main" l="0" t="11000" r="0" b="20000"/>
          <a:stretch xmlns:a="http://schemas.openxmlformats.org/drawingml/2006/main"/>
        </p:blipFill>
        <p:spPr>
          <a:xfrm xmlns:a="http://schemas.openxmlformats.org/drawingml/2006/main">
            <a:off x="7572375" y="1866900"/>
            <a:ext cx="4086225" cy="37719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E29349B-669A-47D0-9F16-13334AFBE5C4}"/>
              </a:ext>
            </a:extLst>
          </p:cNvPr>
          <p:cNvSpPr>
            <a:spLocks xmlns:a="http://schemas.openxmlformats.org/drawingml/2006/main" noGrp="1"/>
          </p:cNvSpPr>
          <p:nvPr/>
        </p:nvSpPr>
        <p:spPr>
          <a:xfrm xmlns:a="http://schemas.openxmlformats.org/drawingml/2006/main">
            <a:off x="7572375" y="5886450"/>
            <a:ext cx="4086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DCE8E"/>
                </a:solidFill>
                <a:latin typeface="Arial"/>
                <a:ea typeface="Arial"/>
                <a:cs typeface="Arial"/>
              </a:defRPr>
            </a:defPPr>
          </a:lstStyle>
          <a:p xmlns:a="http://schemas.openxmlformats.org/drawingml/2006/main">
            <a:pPr>
              <a:defRPr sz="1800" b="1">
                <a:solidFill>
                  <a:srgbClr val="BDCE8E"/>
                </a:solidFill>
                <a:latin typeface="Arial"/>
                <a:ea typeface="Arial"/>
                <a:cs typeface="Arial"/>
              </a:defRPr>
            </a:pPr>
            <a:r>
              <a:rPr sz="1800" b="1">
                <a:solidFill>
                  <a:srgbClr val="BDCE8E"/>
                </a:solidFill>
                <a:latin typeface="Arial"/>
                <a:ea typeface="Arial"/>
                <a:cs typeface="Arial"/>
              </a:rPr>
              <a:t>Today’s screenshot workflow</a:t>
            </a:r>
          </a:p>
          <a:p xmlns:a="http://schemas.openxmlformats.org/drawingml/2006/main">
            <a:pPr>
              <a:defRPr sz="1800" b="1">
                <a:solidFill>
                  <a:srgbClr val="BDCE8E"/>
                </a:solidFill>
                <a:latin typeface="Arial"/>
                <a:ea typeface="Arial"/>
                <a:cs typeface="Arial"/>
              </a:defRPr>
            </a:pPr>
            <a:r>
              <a:rPr sz="1800" b="1">
                <a:solidFill>
                  <a:srgbClr val="BDCE8E"/>
                </a:solidFill>
                <a:latin typeface="Arial"/>
                <a:ea typeface="Arial"/>
                <a:cs typeface="Arial"/>
              </a:rPr>
              <a:t>is the foundation for mobile.</a:t>
            </a:r>
          </a:p>
        </p:txBody>
      </p:sp>
    </p:spTree>
    <p:extLst>
      <p:ext uri="{BB962C8B-B14F-4D97-AF65-F5344CB8AC3E}">
        <p14:creationId xmlns:p14="http://schemas.microsoft.com/office/powerpoint/2010/main" val="20197961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2026-10-11T19:53:32.5480000Z</dcterms:created>
  <dcterms:modified xsi:type="dcterms:W3CDTF">2026-10-11T19:53:32.5480000Z</dcterms:modified>
</coreProperties>
</file>